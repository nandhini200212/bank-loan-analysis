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57" r:id="rId5"/>
    <p:sldId id="260" r:id="rId6"/>
    <p:sldId id="261" r:id="rId7"/>
    <p:sldId id="262" r:id="rId8"/>
    <p:sldId id="263" r:id="rId9"/>
    <p:sldId id="264" r:id="rId10"/>
    <p:sldId id="265" r:id="rId11"/>
    <p:sldId id="266" r:id="rId12"/>
    <p:sldId id="269"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FA9575-2B23-4C58-BF6A-D011A0AF4275}" type="datetimeFigureOut">
              <a:rPr lang="en-IN" smtClean="0"/>
              <a:t>30-05-2026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4169060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FA9575-2B23-4C58-BF6A-D011A0AF4275}" type="datetimeFigureOut">
              <a:rPr lang="en-IN" smtClean="0"/>
              <a:t>30-05-2026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18132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A9575-2B23-4C58-BF6A-D011A0AF4275}" type="datetimeFigureOut">
              <a:rPr lang="en-IN" smtClean="0"/>
              <a:t>30-05-2026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2949276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FA9575-2B23-4C58-BF6A-D011A0AF4275}" type="datetimeFigureOut">
              <a:rPr lang="en-IN" smtClean="0"/>
              <a:t>30-05-2026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717068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FA9575-2B23-4C58-BF6A-D011A0AF4275}" type="datetimeFigureOut">
              <a:rPr lang="en-IN" smtClean="0"/>
              <a:t>30-05-2026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2728492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FA9575-2B23-4C58-BF6A-D011A0AF4275}" type="datetimeFigureOut">
              <a:rPr lang="en-IN" smtClean="0"/>
              <a:t>30-05-2026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3600693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FA9575-2B23-4C58-BF6A-D011A0AF4275}" type="datetimeFigureOut">
              <a:rPr lang="en-IN" smtClean="0"/>
              <a:t>30-05-2026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637158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FA9575-2B23-4C58-BF6A-D011A0AF4275}" type="datetimeFigureOut">
              <a:rPr lang="en-IN" smtClean="0"/>
              <a:t>30-05-2026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938071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FA9575-2B23-4C58-BF6A-D011A0AF4275}" type="datetimeFigureOut">
              <a:rPr lang="en-IN" smtClean="0"/>
              <a:t>30-05-2026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790842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FA9575-2B23-4C58-BF6A-D011A0AF4275}" type="datetimeFigureOut">
              <a:rPr lang="en-IN" smtClean="0"/>
              <a:t>30-05-2026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1773414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A9575-2B23-4C58-BF6A-D011A0AF4275}" type="datetimeFigureOut">
              <a:rPr lang="en-IN" smtClean="0"/>
              <a:t>30-05-2026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70892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A9575-2B23-4C58-BF6A-D011A0AF4275}" type="datetimeFigureOut">
              <a:rPr lang="en-IN" smtClean="0"/>
              <a:t>30-05-2026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31201608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A9575-2B23-4C58-BF6A-D011A0AF4275}" type="datetimeFigureOut">
              <a:rPr lang="en-IN" smtClean="0"/>
              <a:t>30-05-2026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13559532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A9575-2B23-4C58-BF6A-D011A0AF4275}" type="datetimeFigureOut">
              <a:rPr lang="en-IN" smtClean="0"/>
              <a:t>30-05-2026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40378466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A9575-2B23-4C58-BF6A-D011A0AF4275}" type="datetimeFigureOut">
              <a:rPr lang="en-IN" smtClean="0"/>
              <a:t>30-05-2026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32071965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FA9575-2B23-4C58-BF6A-D011A0AF4275}" type="datetimeFigureOut">
              <a:rPr lang="en-IN" smtClean="0"/>
              <a:t>30-05-2026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3896171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FA9575-2B23-4C58-BF6A-D011A0AF4275}" type="datetimeFigureOut">
              <a:rPr lang="en-IN" smtClean="0"/>
              <a:t>30-05-2026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46B2CF-C3E7-4AA3-A496-DB05B91F64B0}" type="slidenum">
              <a:rPr lang="en-IN" smtClean="0"/>
              <a:t>‹#›</a:t>
            </a:fld>
            <a:endParaRPr lang="en-IN"/>
          </a:p>
        </p:txBody>
      </p:sp>
    </p:spTree>
    <p:extLst>
      <p:ext uri="{BB962C8B-B14F-4D97-AF65-F5344CB8AC3E}">
        <p14:creationId xmlns:p14="http://schemas.microsoft.com/office/powerpoint/2010/main" val="464736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6FA9575-2B23-4C58-BF6A-D011A0AF4275}" type="datetimeFigureOut">
              <a:rPr lang="en-IN" smtClean="0"/>
              <a:t>30-05-2026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A46B2CF-C3E7-4AA3-A496-DB05B91F64B0}" type="slidenum">
              <a:rPr lang="en-IN" smtClean="0"/>
              <a:t>‹#›</a:t>
            </a:fld>
            <a:endParaRPr lang="en-IN"/>
          </a:p>
        </p:txBody>
      </p:sp>
    </p:spTree>
    <p:extLst>
      <p:ext uri="{BB962C8B-B14F-4D97-AF65-F5344CB8AC3E}">
        <p14:creationId xmlns:p14="http://schemas.microsoft.com/office/powerpoint/2010/main" val="3861612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B04C-AE2F-404E-A4DB-FB39C5E71460}"/>
              </a:ext>
            </a:extLst>
          </p:cNvPr>
          <p:cNvSpPr>
            <a:spLocks noGrp="1"/>
          </p:cNvSpPr>
          <p:nvPr>
            <p:ph type="ctrTitle"/>
          </p:nvPr>
        </p:nvSpPr>
        <p:spPr/>
        <p:txBody>
          <a:bodyPr>
            <a:normAutofit/>
          </a:bodyPr>
          <a:lstStyle/>
          <a:p>
            <a:pPr algn="ctr"/>
            <a:r>
              <a:rPr lang="en-US" b="1" dirty="0">
                <a:solidFill>
                  <a:srgbClr val="C00000"/>
                </a:solidFill>
              </a:rPr>
              <a:t>Bank Loan Portfolio Analysis Project</a:t>
            </a:r>
            <a:endParaRPr lang="en-US" dirty="0"/>
          </a:p>
        </p:txBody>
      </p:sp>
    </p:spTree>
    <p:extLst>
      <p:ext uri="{BB962C8B-B14F-4D97-AF65-F5344CB8AC3E}">
        <p14:creationId xmlns:p14="http://schemas.microsoft.com/office/powerpoint/2010/main" val="3288517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47D771-B14F-477B-8DC1-A37658F01D89}"/>
              </a:ext>
            </a:extLst>
          </p:cNvPr>
          <p:cNvSpPr txBox="1">
            <a:spLocks/>
          </p:cNvSpPr>
          <p:nvPr/>
        </p:nvSpPr>
        <p:spPr>
          <a:xfrm>
            <a:off x="1797666" y="0"/>
            <a:ext cx="8596668" cy="1320800"/>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n-US" b="1" dirty="0"/>
              <a:t>PRESENTED BY</a:t>
            </a:r>
            <a:endParaRPr lang="en-IN" b="1" dirty="0"/>
          </a:p>
        </p:txBody>
      </p:sp>
      <p:sp>
        <p:nvSpPr>
          <p:cNvPr id="5" name="Rectangle 4">
            <a:extLst>
              <a:ext uri="{FF2B5EF4-FFF2-40B4-BE49-F238E27FC236}">
                <a16:creationId xmlns:a16="http://schemas.microsoft.com/office/drawing/2014/main" id="{97D35B71-BDF8-4E5A-A711-9EF945BFC0AB}"/>
              </a:ext>
            </a:extLst>
          </p:cNvPr>
          <p:cNvSpPr/>
          <p:nvPr/>
        </p:nvSpPr>
        <p:spPr>
          <a:xfrm>
            <a:off x="1797666" y="1434868"/>
            <a:ext cx="1633782" cy="1077218"/>
          </a:xfrm>
          <a:prstGeom prst="rect">
            <a:avLst/>
          </a:prstGeom>
          <a:noFill/>
        </p:spPr>
        <p:txBody>
          <a:bodyPr wrap="square" lIns="91440" tIns="45720" rIns="91440" bIns="45720">
            <a:spAutoFit/>
          </a:bodyPr>
          <a:lstStyle/>
          <a:p>
            <a:pPr algn="ctr"/>
            <a:r>
              <a:rPr lang="en-US" sz="3200" b="1" dirty="0">
                <a:ln w="0"/>
                <a:solidFill>
                  <a:schemeClr val="accent1"/>
                </a:solidFill>
                <a:effectLst>
                  <a:outerShdw blurRad="38100" dist="25400" dir="5400000" algn="ctr" rotWithShape="0">
                    <a:srgbClr val="6E747A">
                      <a:alpha val="43000"/>
                    </a:srgbClr>
                  </a:outerShdw>
                </a:effectLst>
              </a:rPr>
              <a:t>Group 6</a:t>
            </a:r>
          </a:p>
          <a:p>
            <a:pPr algn="ctr"/>
            <a:endParaRPr lang="en-US" sz="3200" b="0" cap="none" spc="0" dirty="0">
              <a:ln w="0"/>
              <a:solidFill>
                <a:schemeClr val="accent1"/>
              </a:solidFill>
              <a:effectLst>
                <a:outerShdw blurRad="38100" dist="25400" dir="5400000" algn="ctr" rotWithShape="0">
                  <a:srgbClr val="6E747A">
                    <a:alpha val="43000"/>
                  </a:srgbClr>
                </a:outerShdw>
              </a:effectLst>
            </a:endParaRPr>
          </a:p>
        </p:txBody>
      </p:sp>
      <p:sp>
        <p:nvSpPr>
          <p:cNvPr id="6" name="TextBox 5">
            <a:extLst>
              <a:ext uri="{FF2B5EF4-FFF2-40B4-BE49-F238E27FC236}">
                <a16:creationId xmlns:a16="http://schemas.microsoft.com/office/drawing/2014/main" id="{1149A780-E01E-4035-B6BF-15BCC6E77F33}"/>
              </a:ext>
            </a:extLst>
          </p:cNvPr>
          <p:cNvSpPr txBox="1"/>
          <p:nvPr/>
        </p:nvSpPr>
        <p:spPr>
          <a:xfrm>
            <a:off x="1797666" y="1685186"/>
            <a:ext cx="7763933" cy="3737946"/>
          </a:xfrm>
          <a:prstGeom prst="rect">
            <a:avLst/>
          </a:prstGeom>
          <a:noFill/>
        </p:spPr>
        <p:txBody>
          <a:bodyPr wrap="square" rtlCol="0">
            <a:spAutoFit/>
          </a:bodyPr>
          <a:lstStyle/>
          <a:p>
            <a:pPr>
              <a:lnSpc>
                <a:spcPct val="150000"/>
              </a:lnSpc>
            </a:pPr>
            <a:endParaRPr lang="en-IN" sz="2000" b="1" i="0" dirty="0">
              <a:solidFill>
                <a:srgbClr val="222222"/>
              </a:solidFill>
              <a:effectLst/>
              <a:latin typeface="Calibri" panose="020F0502020204030204" pitchFamily="34" charset="0"/>
            </a:endParaRPr>
          </a:p>
          <a:p>
            <a:pPr marL="342900" indent="-342900">
              <a:lnSpc>
                <a:spcPct val="150000"/>
              </a:lnSpc>
              <a:buFont typeface="+mj-lt"/>
              <a:buAutoNum type="arabicPeriod"/>
            </a:pPr>
            <a:r>
              <a:rPr lang="en-IN" sz="2000" b="0" i="0" dirty="0">
                <a:solidFill>
                  <a:srgbClr val="222222"/>
                </a:solidFill>
                <a:effectLst/>
                <a:latin typeface="Calibri" panose="020F0502020204030204" pitchFamily="34" charset="0"/>
              </a:rPr>
              <a:t>Abhilash </a:t>
            </a:r>
            <a:r>
              <a:rPr lang="en-IN" sz="2000" b="0" i="0" dirty="0" err="1">
                <a:solidFill>
                  <a:srgbClr val="222222"/>
                </a:solidFill>
                <a:effectLst/>
                <a:latin typeface="Calibri" panose="020F0502020204030204" pitchFamily="34" charset="0"/>
              </a:rPr>
              <a:t>Dandya</a:t>
            </a:r>
            <a:endParaRPr lang="en-IN" sz="2000" b="0" i="0" dirty="0">
              <a:solidFill>
                <a:srgbClr val="222222"/>
              </a:solidFill>
              <a:effectLst/>
              <a:latin typeface="Calibri" panose="020F0502020204030204" pitchFamily="34" charset="0"/>
            </a:endParaRPr>
          </a:p>
          <a:p>
            <a:pPr marL="342900" indent="-342900">
              <a:lnSpc>
                <a:spcPct val="150000"/>
              </a:lnSpc>
              <a:buFont typeface="+mj-lt"/>
              <a:buAutoNum type="arabicPeriod"/>
            </a:pPr>
            <a:r>
              <a:rPr lang="en-IN" sz="2000" b="0" i="0" dirty="0" err="1">
                <a:solidFill>
                  <a:srgbClr val="222222"/>
                </a:solidFill>
                <a:effectLst/>
                <a:latin typeface="Calibri" panose="020F0502020204030204" pitchFamily="34" charset="0"/>
              </a:rPr>
              <a:t>Avinash</a:t>
            </a:r>
            <a:r>
              <a:rPr lang="en-IN" sz="2000" b="0" i="0" dirty="0">
                <a:solidFill>
                  <a:srgbClr val="222222"/>
                </a:solidFill>
                <a:effectLst/>
                <a:latin typeface="Calibri" panose="020F0502020204030204" pitchFamily="34" charset="0"/>
              </a:rPr>
              <a:t> </a:t>
            </a:r>
            <a:r>
              <a:rPr lang="en-IN" sz="2000" b="0" i="0" dirty="0" err="1">
                <a:solidFill>
                  <a:srgbClr val="222222"/>
                </a:solidFill>
                <a:effectLst/>
                <a:latin typeface="Calibri" panose="020F0502020204030204" pitchFamily="34" charset="0"/>
              </a:rPr>
              <a:t>Nesan</a:t>
            </a:r>
            <a:r>
              <a:rPr lang="en-IN" sz="2000" b="0" i="0" dirty="0">
                <a:solidFill>
                  <a:srgbClr val="222222"/>
                </a:solidFill>
                <a:effectLst/>
                <a:latin typeface="Calibri" panose="020F0502020204030204" pitchFamily="34" charset="0"/>
              </a:rPr>
              <a:t> M</a:t>
            </a:r>
            <a:endParaRPr lang="en-IN" sz="2000" dirty="0">
              <a:solidFill>
                <a:srgbClr val="222222"/>
              </a:solidFill>
              <a:latin typeface="Calibri" panose="020F0502020204030204" pitchFamily="34" charset="0"/>
            </a:endParaRPr>
          </a:p>
          <a:p>
            <a:pPr marL="342900" indent="-342900">
              <a:lnSpc>
                <a:spcPct val="150000"/>
              </a:lnSpc>
              <a:buFont typeface="+mj-lt"/>
              <a:buAutoNum type="arabicPeriod"/>
            </a:pPr>
            <a:r>
              <a:rPr lang="en-IN" sz="2000" b="0" i="0" dirty="0">
                <a:solidFill>
                  <a:srgbClr val="222222"/>
                </a:solidFill>
                <a:effectLst/>
                <a:latin typeface="Calibri" panose="020F0502020204030204" pitchFamily="34" charset="0"/>
              </a:rPr>
              <a:t>Ayushi </a:t>
            </a:r>
            <a:r>
              <a:rPr lang="en-IN" sz="2000" b="0" i="0" dirty="0" err="1">
                <a:solidFill>
                  <a:srgbClr val="222222"/>
                </a:solidFill>
                <a:effectLst/>
                <a:latin typeface="Calibri" panose="020F0502020204030204" pitchFamily="34" charset="0"/>
              </a:rPr>
              <a:t>Pundir</a:t>
            </a:r>
            <a:endParaRPr lang="en-IN" sz="2000" b="0" i="0" dirty="0">
              <a:solidFill>
                <a:srgbClr val="222222"/>
              </a:solidFill>
              <a:effectLst/>
              <a:latin typeface="Calibri" panose="020F0502020204030204" pitchFamily="34" charset="0"/>
            </a:endParaRPr>
          </a:p>
          <a:p>
            <a:pPr marL="342900" indent="-342900">
              <a:lnSpc>
                <a:spcPct val="150000"/>
              </a:lnSpc>
              <a:buFont typeface="+mj-lt"/>
              <a:buAutoNum type="arabicPeriod"/>
            </a:pPr>
            <a:r>
              <a:rPr lang="en-IN" sz="2000" b="0" i="0" dirty="0">
                <a:solidFill>
                  <a:srgbClr val="222222"/>
                </a:solidFill>
                <a:effectLst/>
                <a:latin typeface="Calibri" panose="020F0502020204030204" pitchFamily="34" charset="0"/>
              </a:rPr>
              <a:t>Chetan Narayan </a:t>
            </a:r>
            <a:r>
              <a:rPr lang="en-IN" sz="2000" b="0" i="0" dirty="0" err="1">
                <a:solidFill>
                  <a:srgbClr val="222222"/>
                </a:solidFill>
                <a:effectLst/>
                <a:latin typeface="Calibri" panose="020F0502020204030204" pitchFamily="34" charset="0"/>
              </a:rPr>
              <a:t>Bachhav</a:t>
            </a:r>
            <a:endParaRPr lang="en-IN" sz="2000" b="0" i="0" dirty="0">
              <a:solidFill>
                <a:srgbClr val="222222"/>
              </a:solidFill>
              <a:effectLst/>
              <a:latin typeface="Calibri" panose="020F0502020204030204" pitchFamily="34" charset="0"/>
            </a:endParaRPr>
          </a:p>
          <a:p>
            <a:pPr marL="342900" indent="-342900">
              <a:lnSpc>
                <a:spcPct val="150000"/>
              </a:lnSpc>
              <a:buFont typeface="+mj-lt"/>
              <a:buAutoNum type="arabicPeriod"/>
            </a:pPr>
            <a:r>
              <a:rPr lang="en-IN" sz="2000" b="0" i="0" dirty="0">
                <a:solidFill>
                  <a:srgbClr val="222222"/>
                </a:solidFill>
                <a:effectLst/>
                <a:latin typeface="Calibri" panose="020F0502020204030204" pitchFamily="34" charset="0"/>
              </a:rPr>
              <a:t>Nandhini P</a:t>
            </a:r>
          </a:p>
          <a:p>
            <a:pPr marL="342900" indent="-342900">
              <a:lnSpc>
                <a:spcPct val="150000"/>
              </a:lnSpc>
              <a:buFont typeface="+mj-lt"/>
              <a:buAutoNum type="arabicPeriod"/>
            </a:pPr>
            <a:r>
              <a:rPr lang="en-IN" sz="2000" b="0" i="0" dirty="0">
                <a:solidFill>
                  <a:srgbClr val="222222"/>
                </a:solidFill>
                <a:effectLst/>
                <a:latin typeface="Calibri" panose="020F0502020204030204" pitchFamily="34" charset="0"/>
              </a:rPr>
              <a:t>Yogesh Kumar</a:t>
            </a:r>
          </a:p>
          <a:p>
            <a:pPr marL="342900" indent="-342900">
              <a:lnSpc>
                <a:spcPct val="150000"/>
              </a:lnSpc>
              <a:buFont typeface="+mj-lt"/>
              <a:buAutoNum type="arabicPeriod"/>
            </a:pPr>
            <a:r>
              <a:rPr lang="en-IN" sz="2000" b="0" i="0" dirty="0">
                <a:solidFill>
                  <a:srgbClr val="222222"/>
                </a:solidFill>
                <a:effectLst/>
                <a:latin typeface="Calibri" panose="020F0502020204030204" pitchFamily="34" charset="0"/>
              </a:rPr>
              <a:t>Pankaj Bhaskar Patil</a:t>
            </a:r>
            <a:endParaRPr lang="en-IN" sz="2000" b="1" dirty="0">
              <a:solidFill>
                <a:srgbClr val="222222"/>
              </a:solidFill>
              <a:latin typeface="Calibri" panose="020F0502020204030204" pitchFamily="34" charset="0"/>
            </a:endParaRPr>
          </a:p>
        </p:txBody>
      </p:sp>
    </p:spTree>
    <p:extLst>
      <p:ext uri="{BB962C8B-B14F-4D97-AF65-F5344CB8AC3E}">
        <p14:creationId xmlns:p14="http://schemas.microsoft.com/office/powerpoint/2010/main" val="2821212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82DB8-E98D-4CAD-BB89-23071784649B}"/>
              </a:ext>
            </a:extLst>
          </p:cNvPr>
          <p:cNvSpPr>
            <a:spLocks noGrp="1"/>
          </p:cNvSpPr>
          <p:nvPr>
            <p:ph type="title"/>
          </p:nvPr>
        </p:nvSpPr>
        <p:spPr>
          <a:xfrm>
            <a:off x="1972734" y="0"/>
            <a:ext cx="8531224" cy="838200"/>
          </a:xfrm>
        </p:spPr>
        <p:txBody>
          <a:bodyPr/>
          <a:lstStyle/>
          <a:p>
            <a:pPr algn="l"/>
            <a:r>
              <a:rPr lang="en-IN" b="1" dirty="0">
                <a:solidFill>
                  <a:srgbClr val="002060"/>
                </a:solidFill>
              </a:rPr>
              <a:t>Table of Contents</a:t>
            </a:r>
            <a:endParaRPr lang="en-IN" dirty="0">
              <a:solidFill>
                <a:srgbClr val="002060"/>
              </a:solidFill>
            </a:endParaRPr>
          </a:p>
        </p:txBody>
      </p:sp>
      <p:sp>
        <p:nvSpPr>
          <p:cNvPr id="3" name="TextBox 2">
            <a:extLst>
              <a:ext uri="{FF2B5EF4-FFF2-40B4-BE49-F238E27FC236}">
                <a16:creationId xmlns:a16="http://schemas.microsoft.com/office/drawing/2014/main" id="{CD2C0E96-7481-4DFF-B24F-50F4648381F6}"/>
              </a:ext>
            </a:extLst>
          </p:cNvPr>
          <p:cNvSpPr txBox="1"/>
          <p:nvPr/>
        </p:nvSpPr>
        <p:spPr>
          <a:xfrm>
            <a:off x="2252133" y="939801"/>
            <a:ext cx="2845779" cy="5355312"/>
          </a:xfrm>
          <a:prstGeom prst="rect">
            <a:avLst/>
          </a:prstGeom>
          <a:noFill/>
        </p:spPr>
        <p:txBody>
          <a:bodyPr wrap="none" rtlCol="0">
            <a:spAutoFit/>
          </a:bodyPr>
          <a:lstStyle/>
          <a:p>
            <a:pPr algn="l"/>
            <a:endParaRPr lang="en-IN" sz="1800" b="1" dirty="0">
              <a:latin typeface="Calibri" panose="020F0502020204030204" pitchFamily="34" charset="0"/>
              <a:ea typeface="Calibri" panose="020F0502020204030204" pitchFamily="34" charset="0"/>
              <a:cs typeface="Calibri" panose="020F0502020204030204" pitchFamily="34" charset="0"/>
            </a:endParaRPr>
          </a:p>
          <a:p>
            <a:pPr marL="457200" indent="-457200" algn="l">
              <a:buFont typeface="+mj-lt"/>
              <a:buAutoNum type="arabicPeriod"/>
            </a:pPr>
            <a:r>
              <a:rPr lang="en-IN" sz="1800" b="1" dirty="0">
                <a:latin typeface="Calibri" panose="020F0502020204030204" pitchFamily="34" charset="0"/>
                <a:ea typeface="Calibri" panose="020F0502020204030204" pitchFamily="34" charset="0"/>
                <a:cs typeface="Calibri" panose="020F0502020204030204" pitchFamily="34" charset="0"/>
              </a:rPr>
              <a:t>Introduction</a:t>
            </a:r>
          </a:p>
          <a:p>
            <a:pPr marL="457200" indent="-457200" algn="l">
              <a:buFont typeface="+mj-lt"/>
              <a:buAutoNum type="arabicPeriod"/>
            </a:pPr>
            <a:endParaRPr lang="en-IN" sz="1800" b="1" dirty="0">
              <a:latin typeface="Calibri" panose="020F0502020204030204" pitchFamily="34" charset="0"/>
              <a:ea typeface="Calibri" panose="020F0502020204030204" pitchFamily="34" charset="0"/>
              <a:cs typeface="Calibri" panose="020F0502020204030204" pitchFamily="34" charset="0"/>
            </a:endParaRPr>
          </a:p>
          <a:p>
            <a:pPr marL="457200" indent="-457200" algn="l">
              <a:buFont typeface="+mj-lt"/>
              <a:buAutoNum type="arabicPeriod"/>
            </a:pPr>
            <a:r>
              <a:rPr lang="en-IN" sz="1800" b="1" dirty="0">
                <a:latin typeface="Calibri" panose="020F0502020204030204" pitchFamily="34" charset="0"/>
                <a:ea typeface="Calibri" panose="020F0502020204030204" pitchFamily="34" charset="0"/>
                <a:cs typeface="Calibri" panose="020F0502020204030204" pitchFamily="34" charset="0"/>
              </a:rPr>
              <a:t>Objectives of the study</a:t>
            </a:r>
          </a:p>
          <a:p>
            <a:pPr marL="457200" indent="-457200" algn="l">
              <a:buFont typeface="+mj-lt"/>
              <a:buAutoNum type="arabicPeriod"/>
            </a:pPr>
            <a:endParaRPr lang="en-IN" sz="1800" b="1" dirty="0">
              <a:latin typeface="Calibri" panose="020F0502020204030204" pitchFamily="34" charset="0"/>
              <a:ea typeface="Calibri" panose="020F0502020204030204" pitchFamily="34" charset="0"/>
              <a:cs typeface="Calibri" panose="020F0502020204030204" pitchFamily="34" charset="0"/>
            </a:endParaRPr>
          </a:p>
          <a:p>
            <a:pPr marL="457200" indent="-457200" algn="l">
              <a:buFont typeface="+mj-lt"/>
              <a:buAutoNum type="arabicPeriod"/>
            </a:pPr>
            <a:r>
              <a:rPr lang="en-IN" sz="1800" b="1" dirty="0">
                <a:latin typeface="Calibri" panose="020F0502020204030204" pitchFamily="34" charset="0"/>
                <a:ea typeface="Calibri" panose="020F0502020204030204" pitchFamily="34" charset="0"/>
                <a:cs typeface="Calibri" panose="020F0502020204030204" pitchFamily="34" charset="0"/>
              </a:rPr>
              <a:t>KPIs List</a:t>
            </a:r>
          </a:p>
          <a:p>
            <a:pPr marL="457200" indent="-457200" algn="l">
              <a:buFont typeface="+mj-lt"/>
              <a:buAutoNum type="arabicPeriod"/>
            </a:pPr>
            <a:endParaRPr lang="en-IN" sz="1800" b="1" dirty="0">
              <a:latin typeface="Calibri" panose="020F0502020204030204" pitchFamily="34" charset="0"/>
              <a:ea typeface="Calibri" panose="020F0502020204030204" pitchFamily="34" charset="0"/>
              <a:cs typeface="Calibri" panose="020F0502020204030204" pitchFamily="34" charset="0"/>
            </a:endParaRPr>
          </a:p>
          <a:p>
            <a:pPr marL="457200" indent="-457200" algn="l">
              <a:buFont typeface="+mj-lt"/>
              <a:buAutoNum type="arabicPeriod"/>
            </a:pPr>
            <a:r>
              <a:rPr lang="en-IN" sz="1800" b="1" dirty="0">
                <a:latin typeface="Calibri" panose="020F0502020204030204" pitchFamily="34" charset="0"/>
                <a:ea typeface="Calibri" panose="020F0502020204030204" pitchFamily="34" charset="0"/>
                <a:cs typeface="Calibri" panose="020F0502020204030204" pitchFamily="34" charset="0"/>
              </a:rPr>
              <a:t>Tools</a:t>
            </a:r>
          </a:p>
          <a:p>
            <a:pPr marL="457200" indent="-457200" algn="l">
              <a:buFont typeface="+mj-lt"/>
              <a:buAutoNum type="arabicPeriod"/>
            </a:pPr>
            <a:endParaRPr lang="en-IN" sz="1800" b="1" dirty="0">
              <a:latin typeface="Calibri" panose="020F0502020204030204" pitchFamily="34" charset="0"/>
              <a:ea typeface="Calibri" panose="020F0502020204030204" pitchFamily="34" charset="0"/>
              <a:cs typeface="Calibri" panose="020F0502020204030204" pitchFamily="34" charset="0"/>
            </a:endParaRPr>
          </a:p>
          <a:p>
            <a:pPr marL="457200" indent="-457200" algn="l">
              <a:buFont typeface="+mj-lt"/>
              <a:buAutoNum type="arabicPeriod"/>
            </a:pPr>
            <a:r>
              <a:rPr lang="en-IN" sz="1800" b="1" dirty="0">
                <a:latin typeface="Calibri" panose="020F0502020204030204" pitchFamily="34" charset="0"/>
                <a:ea typeface="Calibri" panose="020F0502020204030204" pitchFamily="34" charset="0"/>
                <a:cs typeface="Calibri" panose="020F0502020204030204" pitchFamily="34" charset="0"/>
              </a:rPr>
              <a:t>Excel Dashboards</a:t>
            </a:r>
          </a:p>
          <a:p>
            <a:pPr marL="457200" indent="-457200" algn="l">
              <a:buFont typeface="+mj-lt"/>
              <a:buAutoNum type="arabicPeriod"/>
            </a:pPr>
            <a:endParaRPr lang="en-IN" sz="1800" b="1" dirty="0">
              <a:latin typeface="Calibri" panose="020F0502020204030204" pitchFamily="34" charset="0"/>
              <a:ea typeface="Calibri" panose="020F0502020204030204" pitchFamily="34" charset="0"/>
              <a:cs typeface="Calibri" panose="020F0502020204030204" pitchFamily="34" charset="0"/>
            </a:endParaRPr>
          </a:p>
          <a:p>
            <a:pPr marL="457200" indent="-457200" algn="l">
              <a:buFont typeface="+mj-lt"/>
              <a:buAutoNum type="arabicPeriod"/>
            </a:pPr>
            <a:r>
              <a:rPr lang="en-IN" sz="1800" b="1" dirty="0">
                <a:latin typeface="Calibri" panose="020F0502020204030204" pitchFamily="34" charset="0"/>
                <a:ea typeface="Calibri" panose="020F0502020204030204" pitchFamily="34" charset="0"/>
                <a:cs typeface="Calibri" panose="020F0502020204030204" pitchFamily="34" charset="0"/>
              </a:rPr>
              <a:t>Power BI Dashboards</a:t>
            </a:r>
          </a:p>
          <a:p>
            <a:pPr marL="457200" indent="-457200" algn="l">
              <a:buFont typeface="+mj-lt"/>
              <a:buAutoNum type="arabicPeriod"/>
            </a:pPr>
            <a:endParaRPr lang="en-IN" sz="1800" b="1" dirty="0">
              <a:latin typeface="Calibri" panose="020F0502020204030204" pitchFamily="34" charset="0"/>
              <a:ea typeface="Calibri" panose="020F0502020204030204" pitchFamily="34" charset="0"/>
              <a:cs typeface="Calibri" panose="020F0502020204030204" pitchFamily="34" charset="0"/>
            </a:endParaRPr>
          </a:p>
          <a:p>
            <a:pPr marL="457200" indent="-457200" algn="l">
              <a:buFont typeface="+mj-lt"/>
              <a:buAutoNum type="arabicPeriod"/>
            </a:pPr>
            <a:r>
              <a:rPr lang="en-IN" sz="1800" b="1" dirty="0">
                <a:latin typeface="Calibri" panose="020F0502020204030204" pitchFamily="34" charset="0"/>
                <a:ea typeface="Calibri" panose="020F0502020204030204" pitchFamily="34" charset="0"/>
                <a:cs typeface="Calibri" panose="020F0502020204030204" pitchFamily="34" charset="0"/>
              </a:rPr>
              <a:t>Tableau Dashboards</a:t>
            </a:r>
          </a:p>
          <a:p>
            <a:pPr marL="457200" indent="-457200" algn="l">
              <a:buFont typeface="+mj-lt"/>
              <a:buAutoNum type="arabicPeriod"/>
            </a:pPr>
            <a:endParaRPr lang="en-IN" sz="1800" b="1" dirty="0">
              <a:latin typeface="Calibri" panose="020F0502020204030204" pitchFamily="34" charset="0"/>
              <a:ea typeface="Calibri" panose="020F0502020204030204" pitchFamily="34" charset="0"/>
              <a:cs typeface="Calibri" panose="020F0502020204030204" pitchFamily="34" charset="0"/>
            </a:endParaRPr>
          </a:p>
          <a:p>
            <a:pPr marL="457200" indent="-457200" algn="l">
              <a:buFont typeface="+mj-lt"/>
              <a:buAutoNum type="arabicPeriod"/>
            </a:pPr>
            <a:r>
              <a:rPr lang="en-IN" sz="1800" b="1" dirty="0">
                <a:latin typeface="Calibri" panose="020F0502020204030204" pitchFamily="34" charset="0"/>
                <a:ea typeface="Calibri" panose="020F0502020204030204" pitchFamily="34" charset="0"/>
                <a:cs typeface="Calibri" panose="020F0502020204030204" pitchFamily="34" charset="0"/>
              </a:rPr>
              <a:t>MySQL Queries</a:t>
            </a:r>
          </a:p>
          <a:p>
            <a:pPr marL="457200" indent="-457200" algn="l">
              <a:buFont typeface="+mj-lt"/>
              <a:buAutoNum type="arabicPeriod"/>
            </a:pPr>
            <a:endParaRPr lang="en-IN" sz="1800" b="1" dirty="0">
              <a:latin typeface="Calibri" panose="020F0502020204030204" pitchFamily="34" charset="0"/>
              <a:ea typeface="Calibri" panose="020F0502020204030204" pitchFamily="34" charset="0"/>
              <a:cs typeface="Calibri" panose="020F0502020204030204" pitchFamily="34" charset="0"/>
            </a:endParaRPr>
          </a:p>
          <a:p>
            <a:pPr marL="457200" indent="-457200" algn="l">
              <a:buFont typeface="+mj-lt"/>
              <a:buAutoNum type="arabicPeriod"/>
            </a:pPr>
            <a:r>
              <a:rPr lang="en-IN" sz="1800" b="1" dirty="0">
                <a:latin typeface="Calibri" panose="020F0502020204030204" pitchFamily="34" charset="0"/>
                <a:ea typeface="Calibri" panose="020F0502020204030204" pitchFamily="34" charset="0"/>
                <a:cs typeface="Calibri" panose="020F0502020204030204" pitchFamily="34" charset="0"/>
              </a:rPr>
              <a:t>Key Takeaway</a:t>
            </a:r>
          </a:p>
          <a:p>
            <a:endParaRPr lang="en-IN" dirty="0"/>
          </a:p>
        </p:txBody>
      </p:sp>
    </p:spTree>
    <p:extLst>
      <p:ext uri="{BB962C8B-B14F-4D97-AF65-F5344CB8AC3E}">
        <p14:creationId xmlns:p14="http://schemas.microsoft.com/office/powerpoint/2010/main" val="3497642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C8110-A4F8-4E27-B8EA-80412F737E1C}"/>
              </a:ext>
            </a:extLst>
          </p:cNvPr>
          <p:cNvSpPr>
            <a:spLocks noGrp="1"/>
          </p:cNvSpPr>
          <p:nvPr>
            <p:ph type="title"/>
          </p:nvPr>
        </p:nvSpPr>
        <p:spPr>
          <a:xfrm>
            <a:off x="2236521" y="548269"/>
            <a:ext cx="8751357" cy="965200"/>
          </a:xfrm>
        </p:spPr>
        <p:txBody>
          <a:bodyPr/>
          <a:lstStyle/>
          <a:p>
            <a:r>
              <a:rPr lang="en-US" b="1" dirty="0">
                <a:solidFill>
                  <a:schemeClr val="accent5"/>
                </a:solidFill>
                <a:latin typeface="Arial Black" panose="020B0A04020102020204" pitchFamily="34" charset="0"/>
              </a:rPr>
              <a:t>Introduction</a:t>
            </a:r>
            <a:endParaRPr lang="en-IN" b="1" dirty="0">
              <a:solidFill>
                <a:schemeClr val="accent5"/>
              </a:solidFill>
              <a:latin typeface="Arial Black" panose="020B0A04020102020204" pitchFamily="34" charset="0"/>
            </a:endParaRPr>
          </a:p>
        </p:txBody>
      </p:sp>
      <p:sp>
        <p:nvSpPr>
          <p:cNvPr id="4" name="TextBox 3">
            <a:extLst>
              <a:ext uri="{FF2B5EF4-FFF2-40B4-BE49-F238E27FC236}">
                <a16:creationId xmlns:a16="http://schemas.microsoft.com/office/drawing/2014/main" id="{30AD9A71-5D8B-47F5-996B-B4438D6D94BF}"/>
              </a:ext>
            </a:extLst>
          </p:cNvPr>
          <p:cNvSpPr txBox="1"/>
          <p:nvPr/>
        </p:nvSpPr>
        <p:spPr>
          <a:xfrm>
            <a:off x="907255" y="1856813"/>
            <a:ext cx="11409890" cy="3970318"/>
          </a:xfrm>
          <a:prstGeom prst="rect">
            <a:avLst/>
          </a:prstGeom>
          <a:noFill/>
        </p:spPr>
        <p:txBody>
          <a:bodyPr wrap="square">
            <a:spAutoFit/>
          </a:bodyPr>
          <a:lstStyle/>
          <a:p>
            <a:pPr algn="ctr"/>
            <a:r>
              <a:rPr lang="en-US" b="1" dirty="0"/>
              <a:t>Bank Loan Analytics Dashboard</a:t>
            </a:r>
          </a:p>
          <a:p>
            <a:pPr algn="ctr"/>
            <a:r>
              <a:rPr lang="en-US" dirty="0"/>
              <a:t>Good morning/afternoon everyone.</a:t>
            </a:r>
          </a:p>
          <a:p>
            <a:pPr algn="ctr"/>
            <a:r>
              <a:rPr lang="en-US" dirty="0"/>
              <a:t>Our project focuses on analyzing bank loan data to generate meaningful business insights that support better lending decisions and risk management. The banking industry processes thousands of loan applications every year, making it essential to monitor loan performance, customer behavior, and repayment trends effectively.</a:t>
            </a:r>
          </a:p>
          <a:p>
            <a:pPr algn="ctr"/>
            <a:endParaRPr lang="en-US" dirty="0"/>
          </a:p>
          <a:p>
            <a:pPr algn="ctr"/>
            <a:r>
              <a:rPr lang="en-US" dirty="0"/>
              <a:t>For this project, we worked with two finance datasets containing more than 39,000 customer loan records each. Using Excel, SQL, and Power BI, we transformed raw data into interactive dashboards and key performance indicators (KPIs) that help stakeholders understand loan distribution, payment behavior, customer profiles, and loan status trends.</a:t>
            </a:r>
          </a:p>
          <a:p>
            <a:pPr algn="ctr"/>
            <a:r>
              <a:rPr lang="en-US" dirty="0"/>
              <a:t>The primary objective of this project is to provide a data-driven approach for evaluating loan performance, identifying risk patterns, and supporting strategic decision-making within the banking sector.</a:t>
            </a:r>
          </a:p>
          <a:p>
            <a:pPr algn="ctr"/>
            <a:endParaRPr lang="en-US" dirty="0"/>
          </a:p>
          <a:p>
            <a:pPr algn="ctr"/>
            <a:r>
              <a:rPr lang="en-US" dirty="0"/>
              <a:t>Through this analysis, we aim to answer critical business questions related to loan amounts, customer verification status, home ownership, loan grades, payment trends, and regional loan performance.</a:t>
            </a:r>
          </a:p>
        </p:txBody>
      </p:sp>
    </p:spTree>
    <p:extLst>
      <p:ext uri="{BB962C8B-B14F-4D97-AF65-F5344CB8AC3E}">
        <p14:creationId xmlns:p14="http://schemas.microsoft.com/office/powerpoint/2010/main" val="874762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45F24-E7AE-4C6A-9024-DFBB157911CE}"/>
              </a:ext>
            </a:extLst>
          </p:cNvPr>
          <p:cNvSpPr>
            <a:spLocks noGrp="1"/>
          </p:cNvSpPr>
          <p:nvPr>
            <p:ph type="title"/>
          </p:nvPr>
        </p:nvSpPr>
        <p:spPr>
          <a:xfrm>
            <a:off x="1830388" y="153546"/>
            <a:ext cx="8531224" cy="1075268"/>
          </a:xfrm>
        </p:spPr>
        <p:txBody>
          <a:bodyPr>
            <a:normAutofit fontScale="90000"/>
          </a:bodyPr>
          <a:lstStyle/>
          <a:p>
            <a:pPr algn="l"/>
            <a:r>
              <a:rPr lang="en-US" b="1" dirty="0">
                <a:latin typeface="Arial Black" panose="020B0A04020102020204" pitchFamily="34" charset="0"/>
              </a:rPr>
              <a:t>Objectives</a:t>
            </a:r>
            <a:br>
              <a:rPr lang="en-US" dirty="0">
                <a:latin typeface="Arial Black" panose="020B0A04020102020204" pitchFamily="34" charset="0"/>
              </a:rPr>
            </a:br>
            <a:endParaRPr lang="en-IN" dirty="0">
              <a:latin typeface="Arial Black" panose="020B0A04020102020204" pitchFamily="34" charset="0"/>
            </a:endParaRPr>
          </a:p>
        </p:txBody>
      </p:sp>
      <p:sp>
        <p:nvSpPr>
          <p:cNvPr id="4" name="TextBox 3">
            <a:extLst>
              <a:ext uri="{FF2B5EF4-FFF2-40B4-BE49-F238E27FC236}">
                <a16:creationId xmlns:a16="http://schemas.microsoft.com/office/drawing/2014/main" id="{210A31E1-289E-42BA-A32F-6C4C97086144}"/>
              </a:ext>
            </a:extLst>
          </p:cNvPr>
          <p:cNvSpPr txBox="1"/>
          <p:nvPr/>
        </p:nvSpPr>
        <p:spPr>
          <a:xfrm>
            <a:off x="2286337" y="792019"/>
            <a:ext cx="9050866" cy="5554726"/>
          </a:xfrm>
          <a:prstGeom prst="rect">
            <a:avLst/>
          </a:prstGeom>
          <a:noFill/>
        </p:spPr>
        <p:txBody>
          <a:bodyPr wrap="square" rtlCol="0">
            <a:spAutoFit/>
          </a:bodyPr>
          <a:lstStyle/>
          <a:p>
            <a:pPr marL="285750" indent="-285750">
              <a:lnSpc>
                <a:spcPct val="200000"/>
              </a:lnSpc>
              <a:buClr>
                <a:schemeClr val="accent5"/>
              </a:buClr>
              <a:buFont typeface="Wingdings" panose="05000000000000000000" pitchFamily="2" charset="2"/>
              <a:buChar char="v"/>
            </a:pPr>
            <a:r>
              <a:rPr lang="en-US" dirty="0"/>
              <a:t>Analyze </a:t>
            </a:r>
            <a:r>
              <a:rPr lang="en-US" b="1" dirty="0">
                <a:solidFill>
                  <a:schemeClr val="accent4"/>
                </a:solidFill>
              </a:rPr>
              <a:t>loan performance and repayment trends. </a:t>
            </a:r>
          </a:p>
          <a:p>
            <a:pPr marL="285750" indent="-285750">
              <a:lnSpc>
                <a:spcPct val="200000"/>
              </a:lnSpc>
              <a:buClr>
                <a:schemeClr val="accent5"/>
              </a:buClr>
              <a:buFont typeface="Wingdings" panose="05000000000000000000" pitchFamily="2" charset="2"/>
              <a:buChar char="v"/>
            </a:pPr>
            <a:r>
              <a:rPr lang="en-US" dirty="0"/>
              <a:t>Monitor </a:t>
            </a:r>
            <a:r>
              <a:rPr lang="en-US" b="1" dirty="0">
                <a:solidFill>
                  <a:schemeClr val="accent4"/>
                </a:solidFill>
              </a:rPr>
              <a:t>customer payment </a:t>
            </a:r>
            <a:r>
              <a:rPr lang="en-US" dirty="0"/>
              <a:t>behavior. </a:t>
            </a:r>
          </a:p>
          <a:p>
            <a:pPr marL="285750" indent="-285750">
              <a:lnSpc>
                <a:spcPct val="200000"/>
              </a:lnSpc>
              <a:buClr>
                <a:schemeClr val="accent5"/>
              </a:buClr>
              <a:buFont typeface="Wingdings" panose="05000000000000000000" pitchFamily="2" charset="2"/>
              <a:buChar char="v"/>
            </a:pPr>
            <a:r>
              <a:rPr lang="en-US" dirty="0"/>
              <a:t>Evaluate risk using loan </a:t>
            </a:r>
            <a:r>
              <a:rPr lang="en-US" b="1" dirty="0">
                <a:solidFill>
                  <a:schemeClr val="accent4"/>
                </a:solidFill>
              </a:rPr>
              <a:t>grades and balances. </a:t>
            </a:r>
          </a:p>
          <a:p>
            <a:pPr marL="285750" indent="-285750">
              <a:lnSpc>
                <a:spcPct val="200000"/>
              </a:lnSpc>
              <a:buClr>
                <a:schemeClr val="accent5"/>
              </a:buClr>
              <a:buFont typeface="Wingdings" panose="05000000000000000000" pitchFamily="2" charset="2"/>
              <a:buChar char="v"/>
            </a:pPr>
            <a:r>
              <a:rPr lang="en-US" dirty="0"/>
              <a:t>Compare </a:t>
            </a:r>
            <a:r>
              <a:rPr lang="en-US" b="1" dirty="0">
                <a:solidFill>
                  <a:schemeClr val="accent4"/>
                </a:solidFill>
              </a:rPr>
              <a:t>verified vs non-verified customer </a:t>
            </a:r>
            <a:r>
              <a:rPr lang="en-US" dirty="0"/>
              <a:t>payments. </a:t>
            </a:r>
          </a:p>
          <a:p>
            <a:pPr marL="285750" indent="-285750">
              <a:lnSpc>
                <a:spcPct val="200000"/>
              </a:lnSpc>
              <a:buClr>
                <a:schemeClr val="accent5"/>
              </a:buClr>
              <a:buFont typeface="Wingdings" panose="05000000000000000000" pitchFamily="2" charset="2"/>
              <a:buChar char="v"/>
            </a:pPr>
            <a:r>
              <a:rPr lang="en-US" dirty="0"/>
              <a:t>Track loan status across </a:t>
            </a:r>
            <a:r>
              <a:rPr lang="en-US" b="1" dirty="0">
                <a:solidFill>
                  <a:schemeClr val="accent4"/>
                </a:solidFill>
              </a:rPr>
              <a:t>states and months. </a:t>
            </a:r>
          </a:p>
          <a:p>
            <a:pPr marL="285750" indent="-285750">
              <a:lnSpc>
                <a:spcPct val="200000"/>
              </a:lnSpc>
              <a:buClr>
                <a:schemeClr val="accent5"/>
              </a:buClr>
              <a:buFont typeface="Wingdings" panose="05000000000000000000" pitchFamily="2" charset="2"/>
              <a:buChar char="v"/>
            </a:pPr>
            <a:r>
              <a:rPr lang="en-US" dirty="0"/>
              <a:t>Study the impact </a:t>
            </a:r>
            <a:r>
              <a:rPr lang="en-US" b="1" dirty="0">
                <a:solidFill>
                  <a:schemeClr val="accent4"/>
                </a:solidFill>
              </a:rPr>
              <a:t>of home ownership on repayments</a:t>
            </a:r>
            <a:r>
              <a:rPr lang="en-US" dirty="0">
                <a:solidFill>
                  <a:schemeClr val="accent4"/>
                </a:solidFill>
              </a:rPr>
              <a:t>. </a:t>
            </a:r>
          </a:p>
          <a:p>
            <a:pPr marL="285750" indent="-285750">
              <a:lnSpc>
                <a:spcPct val="200000"/>
              </a:lnSpc>
              <a:buClr>
                <a:schemeClr val="accent5"/>
              </a:buClr>
              <a:buFont typeface="Wingdings" panose="05000000000000000000" pitchFamily="2" charset="2"/>
              <a:buChar char="v"/>
            </a:pPr>
            <a:r>
              <a:rPr lang="en-US" b="1" dirty="0">
                <a:solidFill>
                  <a:schemeClr val="accent4"/>
                </a:solidFill>
              </a:rPr>
              <a:t>Create interactive dashboards </a:t>
            </a:r>
            <a:r>
              <a:rPr lang="en-US" dirty="0"/>
              <a:t>for business decision-making. </a:t>
            </a:r>
          </a:p>
          <a:p>
            <a:pPr marL="285750" indent="-285750">
              <a:lnSpc>
                <a:spcPct val="200000"/>
              </a:lnSpc>
              <a:buClr>
                <a:schemeClr val="accent5"/>
              </a:buClr>
              <a:buFont typeface="Wingdings" panose="05000000000000000000" pitchFamily="2" charset="2"/>
              <a:buChar char="v"/>
            </a:pPr>
            <a:r>
              <a:rPr lang="en-US" dirty="0"/>
              <a:t>Generate actionable insights for better lending strategies.</a:t>
            </a:r>
          </a:p>
          <a:p>
            <a:pPr marL="285750" indent="-285750">
              <a:lnSpc>
                <a:spcPct val="200000"/>
              </a:lnSpc>
              <a:buClr>
                <a:schemeClr val="accent5"/>
              </a:buClr>
              <a:buFont typeface="Wingdings" panose="05000000000000000000" pitchFamily="2" charset="2"/>
              <a:buChar char="v"/>
            </a:pPr>
            <a:r>
              <a:rPr lang="en-US" dirty="0"/>
              <a:t>Segment customers based on risk </a:t>
            </a:r>
          </a:p>
          <a:p>
            <a:pPr marL="285750" indent="-285750">
              <a:lnSpc>
                <a:spcPct val="200000"/>
              </a:lnSpc>
              <a:buClr>
                <a:schemeClr val="accent5"/>
              </a:buClr>
              <a:buFont typeface="Wingdings" panose="05000000000000000000" pitchFamily="2" charset="2"/>
              <a:buChar char="v"/>
            </a:pPr>
            <a:endParaRPr lang="en-IN" dirty="0"/>
          </a:p>
        </p:txBody>
      </p:sp>
    </p:spTree>
    <p:extLst>
      <p:ext uri="{BB962C8B-B14F-4D97-AF65-F5344CB8AC3E}">
        <p14:creationId xmlns:p14="http://schemas.microsoft.com/office/powerpoint/2010/main" val="4125602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C17A4-9B65-4066-AD40-62F633429621}"/>
              </a:ext>
            </a:extLst>
          </p:cNvPr>
          <p:cNvSpPr>
            <a:spLocks noGrp="1"/>
          </p:cNvSpPr>
          <p:nvPr>
            <p:ph type="title"/>
          </p:nvPr>
        </p:nvSpPr>
        <p:spPr>
          <a:xfrm>
            <a:off x="1825770" y="-232835"/>
            <a:ext cx="8734424" cy="990601"/>
          </a:xfrm>
        </p:spPr>
        <p:txBody>
          <a:bodyPr/>
          <a:lstStyle/>
          <a:p>
            <a:r>
              <a:rPr lang="en-US" dirty="0">
                <a:solidFill>
                  <a:schemeClr val="accent5"/>
                </a:solidFill>
                <a:latin typeface="Arial Black" panose="020B0A04020102020204" pitchFamily="34" charset="0"/>
              </a:rPr>
              <a:t>KPI’s</a:t>
            </a:r>
            <a:endParaRPr lang="en-IN" dirty="0">
              <a:solidFill>
                <a:schemeClr val="accent5"/>
              </a:solidFill>
              <a:latin typeface="Arial Black" panose="020B0A04020102020204" pitchFamily="34" charset="0"/>
            </a:endParaRPr>
          </a:p>
        </p:txBody>
      </p:sp>
      <p:graphicFrame>
        <p:nvGraphicFramePr>
          <p:cNvPr id="4" name="Table 3">
            <a:extLst>
              <a:ext uri="{FF2B5EF4-FFF2-40B4-BE49-F238E27FC236}">
                <a16:creationId xmlns:a16="http://schemas.microsoft.com/office/drawing/2014/main" id="{5DF1DB3A-C8FA-4C21-92AB-43730F344AF0}"/>
              </a:ext>
            </a:extLst>
          </p:cNvPr>
          <p:cNvGraphicFramePr>
            <a:graphicFrameLocks noGrp="1"/>
          </p:cNvGraphicFramePr>
          <p:nvPr>
            <p:extLst>
              <p:ext uri="{D42A27DB-BD31-4B8C-83A1-F6EECF244321}">
                <p14:modId xmlns:p14="http://schemas.microsoft.com/office/powerpoint/2010/main" val="2049391857"/>
              </p:ext>
            </p:extLst>
          </p:nvPr>
        </p:nvGraphicFramePr>
        <p:xfrm>
          <a:off x="2202873" y="664633"/>
          <a:ext cx="8357321" cy="5528733"/>
        </p:xfrm>
        <a:graphic>
          <a:graphicData uri="http://schemas.openxmlformats.org/drawingml/2006/table">
            <a:tbl>
              <a:tblPr firstRow="1" firstCol="1" lastRow="1" lastCol="1" bandRow="1" bandCol="1">
                <a:tableStyleId>{0505E3EF-67EA-436B-97B2-0124C06EBD24}</a:tableStyleId>
              </a:tblPr>
              <a:tblGrid>
                <a:gridCol w="2618509">
                  <a:extLst>
                    <a:ext uri="{9D8B030D-6E8A-4147-A177-3AD203B41FA5}">
                      <a16:colId xmlns:a16="http://schemas.microsoft.com/office/drawing/2014/main" val="1910380186"/>
                    </a:ext>
                  </a:extLst>
                </a:gridCol>
                <a:gridCol w="2909454">
                  <a:extLst>
                    <a:ext uri="{9D8B030D-6E8A-4147-A177-3AD203B41FA5}">
                      <a16:colId xmlns:a16="http://schemas.microsoft.com/office/drawing/2014/main" val="3922225340"/>
                    </a:ext>
                  </a:extLst>
                </a:gridCol>
                <a:gridCol w="2829358">
                  <a:extLst>
                    <a:ext uri="{9D8B030D-6E8A-4147-A177-3AD203B41FA5}">
                      <a16:colId xmlns:a16="http://schemas.microsoft.com/office/drawing/2014/main" val="3251574264"/>
                    </a:ext>
                  </a:extLst>
                </a:gridCol>
              </a:tblGrid>
              <a:tr h="402090">
                <a:tc>
                  <a:txBody>
                    <a:bodyPr/>
                    <a:lstStyle/>
                    <a:p>
                      <a:r>
                        <a:rPr lang="en-IN" sz="1600" b="1" dirty="0">
                          <a:solidFill>
                            <a:srgbClr val="002060"/>
                          </a:solidFill>
                          <a:latin typeface="Arial Black" panose="020B0A04020102020204" pitchFamily="34" charset="0"/>
                        </a:rPr>
                        <a:t>Sr. No.</a:t>
                      </a:r>
                    </a:p>
                  </a:txBody>
                  <a:tcPr marL="56804" marR="56804" marT="28402" marB="28402" anchor="ctr"/>
                </a:tc>
                <a:tc>
                  <a:txBody>
                    <a:bodyPr/>
                    <a:lstStyle/>
                    <a:p>
                      <a:r>
                        <a:rPr lang="en-IN" sz="1600" b="1" dirty="0">
                          <a:solidFill>
                            <a:srgbClr val="002060"/>
                          </a:solidFill>
                          <a:latin typeface="Arial Black" panose="020B0A04020102020204" pitchFamily="34" charset="0"/>
                        </a:rPr>
                        <a:t>KPI</a:t>
                      </a:r>
                    </a:p>
                  </a:txBody>
                  <a:tcPr marL="56804" marR="56804" marT="28402" marB="28402" anchor="ctr"/>
                </a:tc>
                <a:tc>
                  <a:txBody>
                    <a:bodyPr/>
                    <a:lstStyle/>
                    <a:p>
                      <a:r>
                        <a:rPr lang="en-IN" sz="1600" b="1" dirty="0">
                          <a:solidFill>
                            <a:srgbClr val="002060"/>
                          </a:solidFill>
                          <a:latin typeface="Arial Black" panose="020B0A04020102020204" pitchFamily="34" charset="0"/>
                        </a:rPr>
                        <a:t>Business Purpose</a:t>
                      </a:r>
                    </a:p>
                  </a:txBody>
                  <a:tcPr marL="56804" marR="56804" marT="28402" marB="28402" anchor="ctr"/>
                </a:tc>
                <a:extLst>
                  <a:ext uri="{0D108BD9-81ED-4DB2-BD59-A6C34878D82A}">
                    <a16:rowId xmlns:a16="http://schemas.microsoft.com/office/drawing/2014/main" val="2013676240"/>
                  </a:ext>
                </a:extLst>
              </a:tr>
              <a:tr h="703657">
                <a:tc>
                  <a:txBody>
                    <a:bodyPr/>
                    <a:lstStyle/>
                    <a:p>
                      <a:r>
                        <a:rPr lang="en-IN" sz="1600" dirty="0"/>
                        <a:t>1</a:t>
                      </a:r>
                    </a:p>
                  </a:txBody>
                  <a:tcPr marL="56804" marR="56804" marT="28402" marB="28402" anchor="ctr"/>
                </a:tc>
                <a:tc>
                  <a:txBody>
                    <a:bodyPr/>
                    <a:lstStyle/>
                    <a:p>
                      <a:r>
                        <a:rPr lang="en-IN" sz="1600" b="1" dirty="0"/>
                        <a:t>Year-wise Loan Amount Statistics</a:t>
                      </a:r>
                    </a:p>
                  </a:txBody>
                  <a:tcPr marL="56804" marR="56804" marT="28402" marB="28402" anchor="ctr"/>
                </a:tc>
                <a:tc>
                  <a:txBody>
                    <a:bodyPr/>
                    <a:lstStyle/>
                    <a:p>
                      <a:r>
                        <a:rPr lang="en-US" sz="1600"/>
                        <a:t>Analyze loan disbursement trends over different years.</a:t>
                      </a:r>
                    </a:p>
                  </a:txBody>
                  <a:tcPr marL="56804" marR="56804" marT="28402" marB="28402" anchor="ctr"/>
                </a:tc>
                <a:extLst>
                  <a:ext uri="{0D108BD9-81ED-4DB2-BD59-A6C34878D82A}">
                    <a16:rowId xmlns:a16="http://schemas.microsoft.com/office/drawing/2014/main" val="2866789186"/>
                  </a:ext>
                </a:extLst>
              </a:tr>
              <a:tr h="703657">
                <a:tc>
                  <a:txBody>
                    <a:bodyPr/>
                    <a:lstStyle/>
                    <a:p>
                      <a:r>
                        <a:rPr lang="en-IN" sz="1600" dirty="0"/>
                        <a:t>2</a:t>
                      </a:r>
                    </a:p>
                  </a:txBody>
                  <a:tcPr marL="56804" marR="56804" marT="28402" marB="28402" anchor="ctr"/>
                </a:tc>
                <a:tc>
                  <a:txBody>
                    <a:bodyPr/>
                    <a:lstStyle/>
                    <a:p>
                      <a:r>
                        <a:rPr lang="en-US" sz="1600" b="1" dirty="0"/>
                        <a:t>Grade and Sub-Grade Wise Revolving Balance (</a:t>
                      </a:r>
                      <a:r>
                        <a:rPr lang="en-US" sz="1600" b="1" dirty="0" err="1"/>
                        <a:t>Revol_Bal</a:t>
                      </a:r>
                      <a:r>
                        <a:rPr lang="en-US" sz="1600" b="1" dirty="0"/>
                        <a:t>)</a:t>
                      </a:r>
                      <a:endParaRPr lang="en-US" sz="1600" dirty="0"/>
                    </a:p>
                  </a:txBody>
                  <a:tcPr marL="56804" marR="56804" marT="28402" marB="28402" anchor="ctr"/>
                </a:tc>
                <a:tc>
                  <a:txBody>
                    <a:bodyPr/>
                    <a:lstStyle/>
                    <a:p>
                      <a:r>
                        <a:rPr lang="en-US" sz="1600"/>
                        <a:t>Evaluate customer credit utilization and risk profile.</a:t>
                      </a:r>
                    </a:p>
                  </a:txBody>
                  <a:tcPr marL="56804" marR="56804" marT="28402" marB="28402" anchor="ctr"/>
                </a:tc>
                <a:extLst>
                  <a:ext uri="{0D108BD9-81ED-4DB2-BD59-A6C34878D82A}">
                    <a16:rowId xmlns:a16="http://schemas.microsoft.com/office/drawing/2014/main" val="1834728818"/>
                  </a:ext>
                </a:extLst>
              </a:tr>
              <a:tr h="1005224">
                <a:tc>
                  <a:txBody>
                    <a:bodyPr/>
                    <a:lstStyle/>
                    <a:p>
                      <a:r>
                        <a:rPr lang="en-IN" sz="1600" dirty="0"/>
                        <a:t>3</a:t>
                      </a:r>
                    </a:p>
                  </a:txBody>
                  <a:tcPr marL="56804" marR="56804" marT="28402" marB="28402" anchor="ctr"/>
                </a:tc>
                <a:tc>
                  <a:txBody>
                    <a:bodyPr/>
                    <a:lstStyle/>
                    <a:p>
                      <a:r>
                        <a:rPr lang="en-US" sz="1600" b="1" dirty="0"/>
                        <a:t>Total Payment for Verified Status vs Non-Verified Status</a:t>
                      </a:r>
                      <a:endParaRPr lang="en-US" sz="1600" dirty="0"/>
                    </a:p>
                  </a:txBody>
                  <a:tcPr marL="56804" marR="56804" marT="28402" marB="28402" anchor="ctr"/>
                </a:tc>
                <a:tc>
                  <a:txBody>
                    <a:bodyPr/>
                    <a:lstStyle/>
                    <a:p>
                      <a:r>
                        <a:rPr lang="en-US" sz="1600"/>
                        <a:t>Compare repayment behavior between verified and non-verified customers.</a:t>
                      </a:r>
                    </a:p>
                  </a:txBody>
                  <a:tcPr marL="56804" marR="56804" marT="28402" marB="28402" anchor="ctr"/>
                </a:tc>
                <a:extLst>
                  <a:ext uri="{0D108BD9-81ED-4DB2-BD59-A6C34878D82A}">
                    <a16:rowId xmlns:a16="http://schemas.microsoft.com/office/drawing/2014/main" val="1497081179"/>
                  </a:ext>
                </a:extLst>
              </a:tr>
              <a:tr h="703657">
                <a:tc>
                  <a:txBody>
                    <a:bodyPr/>
                    <a:lstStyle/>
                    <a:p>
                      <a:r>
                        <a:rPr lang="en-IN" sz="1600"/>
                        <a:t>4</a:t>
                      </a:r>
                    </a:p>
                  </a:txBody>
                  <a:tcPr marL="56804" marR="56804" marT="28402" marB="28402" anchor="ctr"/>
                </a:tc>
                <a:tc>
                  <a:txBody>
                    <a:bodyPr/>
                    <a:lstStyle/>
                    <a:p>
                      <a:r>
                        <a:rPr lang="en-IN" sz="1600" b="1"/>
                        <a:t>State-wise Loan Status Analysis</a:t>
                      </a:r>
                      <a:endParaRPr lang="en-IN" sz="1600"/>
                    </a:p>
                  </a:txBody>
                  <a:tcPr marL="56804" marR="56804" marT="28402" marB="28402" anchor="ctr"/>
                </a:tc>
                <a:tc>
                  <a:txBody>
                    <a:bodyPr/>
                    <a:lstStyle/>
                    <a:p>
                      <a:r>
                        <a:rPr lang="en-US" sz="1600"/>
                        <a:t>Identify loan performance and risk across different states.</a:t>
                      </a:r>
                    </a:p>
                  </a:txBody>
                  <a:tcPr marL="56804" marR="56804" marT="28402" marB="28402" anchor="ctr"/>
                </a:tc>
                <a:extLst>
                  <a:ext uri="{0D108BD9-81ED-4DB2-BD59-A6C34878D82A}">
                    <a16:rowId xmlns:a16="http://schemas.microsoft.com/office/drawing/2014/main" val="3744873907"/>
                  </a:ext>
                </a:extLst>
              </a:tr>
              <a:tr h="1005224">
                <a:tc>
                  <a:txBody>
                    <a:bodyPr/>
                    <a:lstStyle/>
                    <a:p>
                      <a:r>
                        <a:rPr lang="en-IN" sz="1600"/>
                        <a:t>5</a:t>
                      </a:r>
                    </a:p>
                  </a:txBody>
                  <a:tcPr marL="56804" marR="56804" marT="28402" marB="28402" anchor="ctr"/>
                </a:tc>
                <a:tc>
                  <a:txBody>
                    <a:bodyPr/>
                    <a:lstStyle/>
                    <a:p>
                      <a:r>
                        <a:rPr lang="en-IN" sz="1600" b="1" dirty="0"/>
                        <a:t>Month-wise Loan Status Analysis</a:t>
                      </a:r>
                      <a:endParaRPr lang="en-IN" sz="1600" dirty="0"/>
                    </a:p>
                  </a:txBody>
                  <a:tcPr marL="56804" marR="56804" marT="28402" marB="28402" anchor="ctr"/>
                </a:tc>
                <a:tc>
                  <a:txBody>
                    <a:bodyPr/>
                    <a:lstStyle/>
                    <a:p>
                      <a:r>
                        <a:rPr lang="en-US" sz="1600"/>
                        <a:t>Track monthly trends in loan performance and repayment status.</a:t>
                      </a:r>
                    </a:p>
                  </a:txBody>
                  <a:tcPr marL="56804" marR="56804" marT="28402" marB="28402" anchor="ctr"/>
                </a:tc>
                <a:extLst>
                  <a:ext uri="{0D108BD9-81ED-4DB2-BD59-A6C34878D82A}">
                    <a16:rowId xmlns:a16="http://schemas.microsoft.com/office/drawing/2014/main" val="3947770953"/>
                  </a:ext>
                </a:extLst>
              </a:tr>
              <a:tr h="1005224">
                <a:tc>
                  <a:txBody>
                    <a:bodyPr/>
                    <a:lstStyle/>
                    <a:p>
                      <a:r>
                        <a:rPr lang="en-IN" sz="1600"/>
                        <a:t>6</a:t>
                      </a:r>
                    </a:p>
                  </a:txBody>
                  <a:tcPr marL="56804" marR="56804" marT="28402" marB="28402" anchor="ctr"/>
                </a:tc>
                <a:tc>
                  <a:txBody>
                    <a:bodyPr/>
                    <a:lstStyle/>
                    <a:p>
                      <a:r>
                        <a:rPr lang="en-US" sz="1600" b="1"/>
                        <a:t>Home Ownership vs Last Payment Date Statistics</a:t>
                      </a:r>
                      <a:endParaRPr lang="en-US" sz="1600"/>
                    </a:p>
                  </a:txBody>
                  <a:tcPr marL="56804" marR="56804" marT="28402" marB="28402" anchor="ctr"/>
                </a:tc>
                <a:tc>
                  <a:txBody>
                    <a:bodyPr/>
                    <a:lstStyle/>
                    <a:p>
                      <a:r>
                        <a:rPr lang="en-US" sz="1600" dirty="0"/>
                        <a:t>Understand the relationship between property ownership and repayment behavior.</a:t>
                      </a:r>
                    </a:p>
                  </a:txBody>
                  <a:tcPr marL="56804" marR="56804" marT="28402" marB="28402" anchor="ctr"/>
                </a:tc>
                <a:extLst>
                  <a:ext uri="{0D108BD9-81ED-4DB2-BD59-A6C34878D82A}">
                    <a16:rowId xmlns:a16="http://schemas.microsoft.com/office/drawing/2014/main" val="3006701635"/>
                  </a:ext>
                </a:extLst>
              </a:tr>
            </a:tbl>
          </a:graphicData>
        </a:graphic>
      </p:graphicFrame>
    </p:spTree>
    <p:extLst>
      <p:ext uri="{BB962C8B-B14F-4D97-AF65-F5344CB8AC3E}">
        <p14:creationId xmlns:p14="http://schemas.microsoft.com/office/powerpoint/2010/main" val="3593757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885A9-67C8-4634-9D8A-76F9907F365D}"/>
              </a:ext>
            </a:extLst>
          </p:cNvPr>
          <p:cNvSpPr txBox="1">
            <a:spLocks/>
          </p:cNvSpPr>
          <p:nvPr/>
        </p:nvSpPr>
        <p:spPr>
          <a:xfrm>
            <a:off x="1524000" y="211666"/>
            <a:ext cx="8596668" cy="1320800"/>
          </a:xfrm>
          <a:prstGeom prst="rect">
            <a:avLst/>
          </a:prstGeom>
        </p:spPr>
        <p:txBody>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Tools</a:t>
            </a:r>
            <a:endParaRPr lang="en-IN" b="1" dirty="0"/>
          </a:p>
        </p:txBody>
      </p:sp>
      <p:pic>
        <p:nvPicPr>
          <p:cNvPr id="3" name="Content Placeholder 26" descr="A screenshot of a phone&#10;&#10;AI-generated content may be incorrect.">
            <a:extLst>
              <a:ext uri="{FF2B5EF4-FFF2-40B4-BE49-F238E27FC236}">
                <a16:creationId xmlns:a16="http://schemas.microsoft.com/office/drawing/2014/main" id="{F2BD66EF-338F-4C2F-ADB3-DE07FEEB14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0400" y="1872696"/>
            <a:ext cx="9459175" cy="4155572"/>
          </a:xfrm>
          <a:prstGeom prst="rect">
            <a:avLst/>
          </a:prstGeom>
        </p:spPr>
      </p:pic>
    </p:spTree>
    <p:extLst>
      <p:ext uri="{BB962C8B-B14F-4D97-AF65-F5344CB8AC3E}">
        <p14:creationId xmlns:p14="http://schemas.microsoft.com/office/powerpoint/2010/main" val="1759175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1DB06-BEC7-4D32-8172-3D605AD11892}"/>
              </a:ext>
            </a:extLst>
          </p:cNvPr>
          <p:cNvSpPr>
            <a:spLocks noGrp="1"/>
          </p:cNvSpPr>
          <p:nvPr>
            <p:ph type="title"/>
          </p:nvPr>
        </p:nvSpPr>
        <p:spPr>
          <a:xfrm>
            <a:off x="1930997" y="-360218"/>
            <a:ext cx="8330006" cy="1320800"/>
          </a:xfrm>
        </p:spPr>
        <p:txBody>
          <a:bodyPr/>
          <a:lstStyle/>
          <a:p>
            <a:r>
              <a:rPr lang="en-US" b="1" dirty="0">
                <a:solidFill>
                  <a:schemeClr val="accent5"/>
                </a:solidFill>
              </a:rPr>
              <a:t>Excel Dashboard</a:t>
            </a:r>
            <a:endParaRPr lang="en-IN" b="1" dirty="0">
              <a:solidFill>
                <a:schemeClr val="accent5"/>
              </a:solidFill>
            </a:endParaRPr>
          </a:p>
        </p:txBody>
      </p:sp>
      <p:pic>
        <p:nvPicPr>
          <p:cNvPr id="4" name="Picture 3">
            <a:extLst>
              <a:ext uri="{FF2B5EF4-FFF2-40B4-BE49-F238E27FC236}">
                <a16:creationId xmlns:a16="http://schemas.microsoft.com/office/drawing/2014/main" id="{4A935848-E835-DF48-ADDC-9EFB444026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2036" y="1385455"/>
            <a:ext cx="9975273" cy="4973781"/>
          </a:xfrm>
          <a:prstGeom prst="rect">
            <a:avLst/>
          </a:prstGeom>
        </p:spPr>
      </p:pic>
      <p:sp>
        <p:nvSpPr>
          <p:cNvPr id="5" name="TextBox 4">
            <a:extLst>
              <a:ext uri="{FF2B5EF4-FFF2-40B4-BE49-F238E27FC236}">
                <a16:creationId xmlns:a16="http://schemas.microsoft.com/office/drawing/2014/main" id="{D0D95F52-0D7A-4037-8FBD-1D821B2421A3}"/>
              </a:ext>
            </a:extLst>
          </p:cNvPr>
          <p:cNvSpPr txBox="1"/>
          <p:nvPr/>
        </p:nvSpPr>
        <p:spPr>
          <a:xfrm>
            <a:off x="2092036" y="734291"/>
            <a:ext cx="9878291" cy="923330"/>
          </a:xfrm>
          <a:prstGeom prst="rect">
            <a:avLst/>
          </a:prstGeom>
          <a:noFill/>
        </p:spPr>
        <p:txBody>
          <a:bodyPr wrap="square" rtlCol="0">
            <a:spAutoFit/>
          </a:bodyPr>
          <a:lstStyle/>
          <a:p>
            <a:pPr algn="ctr"/>
            <a:r>
              <a:rPr lang="en-US" b="1" i="1" dirty="0">
                <a:solidFill>
                  <a:srgbClr val="002060"/>
                </a:solidFill>
              </a:rPr>
              <a:t>“The dashboard highlights strong loan growth, healthy profitability, effective repayment collection,            increasing customer demand, and well-managed credit risk across the loan portfolio."</a:t>
            </a:r>
            <a:endParaRPr lang="en-US" b="1" dirty="0">
              <a:solidFill>
                <a:srgbClr val="002060"/>
              </a:solidFill>
            </a:endParaRPr>
          </a:p>
          <a:p>
            <a:pPr algn="ctr"/>
            <a:endParaRPr lang="en-US" b="1" dirty="0">
              <a:solidFill>
                <a:srgbClr val="002060"/>
              </a:solidFill>
            </a:endParaRPr>
          </a:p>
        </p:txBody>
      </p:sp>
    </p:spTree>
    <p:extLst>
      <p:ext uri="{BB962C8B-B14F-4D97-AF65-F5344CB8AC3E}">
        <p14:creationId xmlns:p14="http://schemas.microsoft.com/office/powerpoint/2010/main" val="3144760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A8F48-2591-41A9-9DCF-EBD3EB438DED}"/>
              </a:ext>
            </a:extLst>
          </p:cNvPr>
          <p:cNvSpPr>
            <a:spLocks noGrp="1"/>
          </p:cNvSpPr>
          <p:nvPr>
            <p:ph type="title"/>
          </p:nvPr>
        </p:nvSpPr>
        <p:spPr>
          <a:xfrm>
            <a:off x="2161309" y="-262081"/>
            <a:ext cx="8596668" cy="939800"/>
          </a:xfrm>
        </p:spPr>
        <p:txBody>
          <a:bodyPr>
            <a:normAutofit/>
          </a:bodyPr>
          <a:lstStyle/>
          <a:p>
            <a:r>
              <a:rPr lang="en-US" sz="3600" b="1" dirty="0">
                <a:solidFill>
                  <a:schemeClr val="accent5"/>
                </a:solidFill>
              </a:rPr>
              <a:t>Power BI Dashboard</a:t>
            </a:r>
            <a:endParaRPr lang="en-IN" sz="3600" b="1" dirty="0">
              <a:solidFill>
                <a:schemeClr val="accent5"/>
              </a:solidFill>
            </a:endParaRPr>
          </a:p>
        </p:txBody>
      </p:sp>
      <p:pic>
        <p:nvPicPr>
          <p:cNvPr id="4" name="Picture 3">
            <a:extLst>
              <a:ext uri="{FF2B5EF4-FFF2-40B4-BE49-F238E27FC236}">
                <a16:creationId xmlns:a16="http://schemas.microsoft.com/office/drawing/2014/main" id="{1439F919-E52F-2C6B-F4C2-BDAAF756F2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9844" y="1370446"/>
            <a:ext cx="9879756" cy="5182754"/>
          </a:xfrm>
          <a:prstGeom prst="rect">
            <a:avLst/>
          </a:prstGeom>
        </p:spPr>
      </p:pic>
      <p:sp>
        <p:nvSpPr>
          <p:cNvPr id="6" name="TextBox 5">
            <a:extLst>
              <a:ext uri="{FF2B5EF4-FFF2-40B4-BE49-F238E27FC236}">
                <a16:creationId xmlns:a16="http://schemas.microsoft.com/office/drawing/2014/main" id="{689BC809-9DD9-C8A0-D98B-1B11F02FE7F3}"/>
              </a:ext>
            </a:extLst>
          </p:cNvPr>
          <p:cNvSpPr txBox="1"/>
          <p:nvPr/>
        </p:nvSpPr>
        <p:spPr>
          <a:xfrm>
            <a:off x="2327563" y="447116"/>
            <a:ext cx="9337964" cy="923330"/>
          </a:xfrm>
          <a:prstGeom prst="rect">
            <a:avLst/>
          </a:prstGeom>
          <a:noFill/>
        </p:spPr>
        <p:txBody>
          <a:bodyPr wrap="square" rtlCol="0">
            <a:spAutoFit/>
          </a:bodyPr>
          <a:lstStyle/>
          <a:p>
            <a:pPr algn="ctr"/>
            <a:r>
              <a:rPr lang="en-US" b="1" dirty="0">
                <a:solidFill>
                  <a:srgbClr val="002060"/>
                </a:solidFill>
              </a:rPr>
              <a:t>"This Power BI dashboard provides a comprehensive view of loan performance, customer repayment behavior, and portfolio health, helping stakeholders make data-driven lending decisions."</a:t>
            </a:r>
          </a:p>
        </p:txBody>
      </p:sp>
    </p:spTree>
    <p:extLst>
      <p:ext uri="{BB962C8B-B14F-4D97-AF65-F5344CB8AC3E}">
        <p14:creationId xmlns:p14="http://schemas.microsoft.com/office/powerpoint/2010/main" val="1068454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FF21B-8D0E-4728-BB0A-B9904F452B69}"/>
              </a:ext>
            </a:extLst>
          </p:cNvPr>
          <p:cNvSpPr>
            <a:spLocks noGrp="1"/>
          </p:cNvSpPr>
          <p:nvPr>
            <p:ph type="title"/>
          </p:nvPr>
        </p:nvSpPr>
        <p:spPr>
          <a:xfrm>
            <a:off x="2036618" y="160867"/>
            <a:ext cx="8596668" cy="601133"/>
          </a:xfrm>
        </p:spPr>
        <p:txBody>
          <a:bodyPr>
            <a:noAutofit/>
          </a:bodyPr>
          <a:lstStyle/>
          <a:p>
            <a:r>
              <a:rPr lang="en-US" sz="3600" b="1" dirty="0">
                <a:solidFill>
                  <a:schemeClr val="accent5"/>
                </a:solidFill>
              </a:rPr>
              <a:t>Tableau Dashboard</a:t>
            </a:r>
            <a:br>
              <a:rPr lang="en-US" sz="3600" b="1" dirty="0">
                <a:solidFill>
                  <a:schemeClr val="accent5"/>
                </a:solidFill>
              </a:rPr>
            </a:br>
            <a:endParaRPr lang="en-IN" sz="3600" b="1" dirty="0">
              <a:solidFill>
                <a:schemeClr val="accent5"/>
              </a:solidFill>
            </a:endParaRPr>
          </a:p>
        </p:txBody>
      </p:sp>
      <p:pic>
        <p:nvPicPr>
          <p:cNvPr id="5" name="Picture 4">
            <a:extLst>
              <a:ext uri="{FF2B5EF4-FFF2-40B4-BE49-F238E27FC236}">
                <a16:creationId xmlns:a16="http://schemas.microsoft.com/office/drawing/2014/main" id="{977DCBB4-82AA-4BE7-BB29-EA9A05961280}"/>
              </a:ext>
            </a:extLst>
          </p:cNvPr>
          <p:cNvPicPr>
            <a:picLocks noChangeAspect="1"/>
          </p:cNvPicPr>
          <p:nvPr/>
        </p:nvPicPr>
        <p:blipFill>
          <a:blip r:embed="rId2"/>
          <a:stretch>
            <a:fillRect/>
          </a:stretch>
        </p:blipFill>
        <p:spPr>
          <a:xfrm>
            <a:off x="2036618" y="1232177"/>
            <a:ext cx="9989127" cy="5265605"/>
          </a:xfrm>
          <a:prstGeom prst="rect">
            <a:avLst/>
          </a:prstGeom>
        </p:spPr>
      </p:pic>
      <p:sp>
        <p:nvSpPr>
          <p:cNvPr id="6" name="TextBox 5">
            <a:extLst>
              <a:ext uri="{FF2B5EF4-FFF2-40B4-BE49-F238E27FC236}">
                <a16:creationId xmlns:a16="http://schemas.microsoft.com/office/drawing/2014/main" id="{A8E69DA0-946A-C03E-EBFD-F0289B049F84}"/>
              </a:ext>
            </a:extLst>
          </p:cNvPr>
          <p:cNvSpPr txBox="1"/>
          <p:nvPr/>
        </p:nvSpPr>
        <p:spPr>
          <a:xfrm>
            <a:off x="2493817" y="346364"/>
            <a:ext cx="9074727" cy="923330"/>
          </a:xfrm>
          <a:prstGeom prst="rect">
            <a:avLst/>
          </a:prstGeom>
          <a:noFill/>
        </p:spPr>
        <p:txBody>
          <a:bodyPr wrap="square" rtlCol="0">
            <a:spAutoFit/>
          </a:bodyPr>
          <a:lstStyle/>
          <a:p>
            <a:pPr algn="ctr"/>
            <a:r>
              <a:rPr lang="en-US" b="1" dirty="0">
                <a:solidFill>
                  <a:srgbClr val="002060"/>
                </a:solidFill>
              </a:rPr>
              <a:t>"This Tableau dashboard provides a comprehensive view of loan performance, customer behavior, and repayment trends, enabling stakeholders to make informed lending and portfolio management decisions."</a:t>
            </a:r>
          </a:p>
        </p:txBody>
      </p:sp>
    </p:spTree>
    <p:extLst>
      <p:ext uri="{BB962C8B-B14F-4D97-AF65-F5344CB8AC3E}">
        <p14:creationId xmlns:p14="http://schemas.microsoft.com/office/powerpoint/2010/main" val="501492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4FA1-7A63-46A4-810A-C5F64E916BFD}"/>
              </a:ext>
            </a:extLst>
          </p:cNvPr>
          <p:cNvSpPr>
            <a:spLocks noGrp="1"/>
          </p:cNvSpPr>
          <p:nvPr>
            <p:ph type="title"/>
          </p:nvPr>
        </p:nvSpPr>
        <p:spPr>
          <a:xfrm>
            <a:off x="1336025" y="-574963"/>
            <a:ext cx="10018713" cy="1752599"/>
          </a:xfrm>
        </p:spPr>
        <p:txBody>
          <a:bodyPr/>
          <a:lstStyle/>
          <a:p>
            <a:r>
              <a:rPr lang="en-US" b="1" dirty="0">
                <a:solidFill>
                  <a:schemeClr val="accent5"/>
                </a:solidFill>
              </a:rPr>
              <a:t>MYSQL  Queries</a:t>
            </a:r>
            <a:endParaRPr lang="en-IN" b="1" dirty="0">
              <a:solidFill>
                <a:schemeClr val="accent5"/>
              </a:solidFill>
            </a:endParaRPr>
          </a:p>
        </p:txBody>
      </p:sp>
      <p:pic>
        <p:nvPicPr>
          <p:cNvPr id="6" name="Picture 5">
            <a:extLst>
              <a:ext uri="{FF2B5EF4-FFF2-40B4-BE49-F238E27FC236}">
                <a16:creationId xmlns:a16="http://schemas.microsoft.com/office/drawing/2014/main" id="{50F4B43F-5A81-7630-0427-25B75E1021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20" y="649656"/>
            <a:ext cx="5461971" cy="2981741"/>
          </a:xfrm>
          <a:prstGeom prst="rect">
            <a:avLst/>
          </a:prstGeom>
        </p:spPr>
      </p:pic>
      <p:sp>
        <p:nvSpPr>
          <p:cNvPr id="7" name="TextBox 6">
            <a:extLst>
              <a:ext uri="{FF2B5EF4-FFF2-40B4-BE49-F238E27FC236}">
                <a16:creationId xmlns:a16="http://schemas.microsoft.com/office/drawing/2014/main" id="{FC2819EF-04E4-A426-7516-444B00780364}"/>
              </a:ext>
            </a:extLst>
          </p:cNvPr>
          <p:cNvSpPr txBox="1"/>
          <p:nvPr/>
        </p:nvSpPr>
        <p:spPr>
          <a:xfrm>
            <a:off x="7167386" y="1263363"/>
            <a:ext cx="4211782" cy="1754326"/>
          </a:xfrm>
          <a:prstGeom prst="rect">
            <a:avLst/>
          </a:prstGeom>
          <a:noFill/>
        </p:spPr>
        <p:txBody>
          <a:bodyPr wrap="square" rtlCol="0">
            <a:spAutoFit/>
          </a:bodyPr>
          <a:lstStyle/>
          <a:p>
            <a:pPr algn="ctr"/>
            <a:r>
              <a:rPr lang="en-US" b="1" dirty="0">
                <a:solidFill>
                  <a:srgbClr val="002060"/>
                </a:solidFill>
              </a:rPr>
              <a:t>"This query analyzes yearly loan disbursement trends by calculating total loan amounts and each year's percentage contribution to the overall loan portfolio."</a:t>
            </a:r>
          </a:p>
          <a:p>
            <a:pPr algn="ctr"/>
            <a:endParaRPr lang="en-US" b="1" dirty="0">
              <a:solidFill>
                <a:srgbClr val="002060"/>
              </a:solidFill>
            </a:endParaRPr>
          </a:p>
        </p:txBody>
      </p:sp>
      <p:pic>
        <p:nvPicPr>
          <p:cNvPr id="9" name="Picture 8">
            <a:extLst>
              <a:ext uri="{FF2B5EF4-FFF2-40B4-BE49-F238E27FC236}">
                <a16:creationId xmlns:a16="http://schemas.microsoft.com/office/drawing/2014/main" id="{D73B2B82-9500-007E-3A51-59CF670109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0720" y="3917672"/>
            <a:ext cx="5461971" cy="2039783"/>
          </a:xfrm>
          <a:prstGeom prst="rect">
            <a:avLst/>
          </a:prstGeom>
        </p:spPr>
      </p:pic>
      <p:sp>
        <p:nvSpPr>
          <p:cNvPr id="13" name="TextBox 12">
            <a:extLst>
              <a:ext uri="{FF2B5EF4-FFF2-40B4-BE49-F238E27FC236}">
                <a16:creationId xmlns:a16="http://schemas.microsoft.com/office/drawing/2014/main" id="{15D2D36C-71B2-B1A2-12DE-9A95C4031D21}"/>
              </a:ext>
            </a:extLst>
          </p:cNvPr>
          <p:cNvSpPr txBox="1"/>
          <p:nvPr/>
        </p:nvSpPr>
        <p:spPr>
          <a:xfrm>
            <a:off x="7313797" y="4117309"/>
            <a:ext cx="4065371" cy="1477328"/>
          </a:xfrm>
          <a:prstGeom prst="rect">
            <a:avLst/>
          </a:prstGeom>
          <a:noFill/>
        </p:spPr>
        <p:txBody>
          <a:bodyPr wrap="square" rtlCol="0">
            <a:spAutoFit/>
          </a:bodyPr>
          <a:lstStyle/>
          <a:p>
            <a:pPr algn="ctr"/>
            <a:r>
              <a:rPr lang="en-US" b="1" dirty="0">
                <a:solidFill>
                  <a:srgbClr val="002060"/>
                </a:solidFill>
              </a:rPr>
              <a:t>"This query analyzes the total revolving balance across different loan grades and sub-grades to evaluate credit portfolio distribution and risk levels."</a:t>
            </a:r>
          </a:p>
        </p:txBody>
      </p:sp>
    </p:spTree>
    <p:extLst>
      <p:ext uri="{BB962C8B-B14F-4D97-AF65-F5344CB8AC3E}">
        <p14:creationId xmlns:p14="http://schemas.microsoft.com/office/powerpoint/2010/main" val="1058282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EB139F-F16B-3B22-7235-D3E7FF2103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4337" y="147520"/>
            <a:ext cx="5344271" cy="1686160"/>
          </a:xfrm>
          <a:prstGeom prst="rect">
            <a:avLst/>
          </a:prstGeom>
        </p:spPr>
      </p:pic>
      <p:sp>
        <p:nvSpPr>
          <p:cNvPr id="5" name="TextBox 4">
            <a:extLst>
              <a:ext uri="{FF2B5EF4-FFF2-40B4-BE49-F238E27FC236}">
                <a16:creationId xmlns:a16="http://schemas.microsoft.com/office/drawing/2014/main" id="{938B2D4E-3375-E0C7-558F-4BCC1963D5C2}"/>
              </a:ext>
            </a:extLst>
          </p:cNvPr>
          <p:cNvSpPr txBox="1"/>
          <p:nvPr/>
        </p:nvSpPr>
        <p:spPr>
          <a:xfrm>
            <a:off x="7218217" y="251936"/>
            <a:ext cx="4100945" cy="1477328"/>
          </a:xfrm>
          <a:prstGeom prst="rect">
            <a:avLst/>
          </a:prstGeom>
          <a:noFill/>
        </p:spPr>
        <p:txBody>
          <a:bodyPr wrap="square" rtlCol="0">
            <a:spAutoFit/>
          </a:bodyPr>
          <a:lstStyle/>
          <a:p>
            <a:pPr algn="ctr"/>
            <a:r>
              <a:rPr lang="en-US" b="1" dirty="0">
                <a:solidFill>
                  <a:srgbClr val="002060"/>
                </a:solidFill>
              </a:rPr>
              <a:t>“This query compares total payments across different verification statuses to assess the impact of customer verification on loan repayment performance."</a:t>
            </a:r>
          </a:p>
        </p:txBody>
      </p:sp>
      <p:pic>
        <p:nvPicPr>
          <p:cNvPr id="7" name="Picture 6">
            <a:extLst>
              <a:ext uri="{FF2B5EF4-FFF2-40B4-BE49-F238E27FC236}">
                <a16:creationId xmlns:a16="http://schemas.microsoft.com/office/drawing/2014/main" id="{F345FEAA-476A-E7DD-0FC8-1F049390C5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4337" y="2254281"/>
            <a:ext cx="5344270" cy="1629002"/>
          </a:xfrm>
          <a:prstGeom prst="rect">
            <a:avLst/>
          </a:prstGeom>
        </p:spPr>
      </p:pic>
      <p:sp>
        <p:nvSpPr>
          <p:cNvPr id="8" name="TextBox 7">
            <a:extLst>
              <a:ext uri="{FF2B5EF4-FFF2-40B4-BE49-F238E27FC236}">
                <a16:creationId xmlns:a16="http://schemas.microsoft.com/office/drawing/2014/main" id="{1766A3F7-120B-B79D-6BBB-158D8EDEF170}"/>
              </a:ext>
            </a:extLst>
          </p:cNvPr>
          <p:cNvSpPr txBox="1"/>
          <p:nvPr/>
        </p:nvSpPr>
        <p:spPr>
          <a:xfrm>
            <a:off x="7218218" y="2479238"/>
            <a:ext cx="3879273" cy="1477328"/>
          </a:xfrm>
          <a:prstGeom prst="rect">
            <a:avLst/>
          </a:prstGeom>
          <a:noFill/>
        </p:spPr>
        <p:txBody>
          <a:bodyPr wrap="square" rtlCol="0">
            <a:spAutoFit/>
          </a:bodyPr>
          <a:lstStyle/>
          <a:p>
            <a:pPr algn="ctr"/>
            <a:r>
              <a:rPr lang="en-US" b="1" dirty="0">
                <a:solidFill>
                  <a:srgbClr val="002060"/>
                </a:solidFill>
              </a:rPr>
              <a:t>"This query analyzes loan status distribution across different states and months to identify regional and seasonal lending trends."</a:t>
            </a:r>
            <a:endParaRPr lang="en-US" dirty="0">
              <a:solidFill>
                <a:srgbClr val="002060"/>
              </a:solidFill>
            </a:endParaRPr>
          </a:p>
          <a:p>
            <a:pPr algn="ctr"/>
            <a:endParaRPr lang="en-US" dirty="0">
              <a:solidFill>
                <a:srgbClr val="002060"/>
              </a:solidFill>
            </a:endParaRPr>
          </a:p>
        </p:txBody>
      </p:sp>
      <p:pic>
        <p:nvPicPr>
          <p:cNvPr id="10" name="Picture 9">
            <a:extLst>
              <a:ext uri="{FF2B5EF4-FFF2-40B4-BE49-F238E27FC236}">
                <a16:creationId xmlns:a16="http://schemas.microsoft.com/office/drawing/2014/main" id="{DC65ABD0-7969-4E0A-5C98-6614CC7A81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4337" y="4190002"/>
            <a:ext cx="5344270" cy="1878289"/>
          </a:xfrm>
          <a:prstGeom prst="rect">
            <a:avLst/>
          </a:prstGeom>
        </p:spPr>
      </p:pic>
      <p:sp>
        <p:nvSpPr>
          <p:cNvPr id="11" name="TextBox 10">
            <a:extLst>
              <a:ext uri="{FF2B5EF4-FFF2-40B4-BE49-F238E27FC236}">
                <a16:creationId xmlns:a16="http://schemas.microsoft.com/office/drawing/2014/main" id="{4F873837-7E52-E95D-A72E-3030C38FAB55}"/>
              </a:ext>
            </a:extLst>
          </p:cNvPr>
          <p:cNvSpPr txBox="1"/>
          <p:nvPr/>
        </p:nvSpPr>
        <p:spPr>
          <a:xfrm>
            <a:off x="7453743" y="4390482"/>
            <a:ext cx="3629892" cy="1477328"/>
          </a:xfrm>
          <a:prstGeom prst="rect">
            <a:avLst/>
          </a:prstGeom>
          <a:noFill/>
        </p:spPr>
        <p:txBody>
          <a:bodyPr wrap="square" rtlCol="0">
            <a:spAutoFit/>
          </a:bodyPr>
          <a:lstStyle/>
          <a:p>
            <a:pPr algn="ctr"/>
            <a:r>
              <a:rPr lang="en-US" b="1" dirty="0">
                <a:solidFill>
                  <a:srgbClr val="002060"/>
                </a:solidFill>
              </a:rPr>
              <a:t>"This query analyzes customer home ownership categories by showing the latest payment date and total number of customers in each category."</a:t>
            </a:r>
          </a:p>
        </p:txBody>
      </p:sp>
    </p:spTree>
    <p:extLst>
      <p:ext uri="{BB962C8B-B14F-4D97-AF65-F5344CB8AC3E}">
        <p14:creationId xmlns:p14="http://schemas.microsoft.com/office/powerpoint/2010/main" val="436954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4B47E-449C-4F5F-852E-852B717BE25F}"/>
              </a:ext>
            </a:extLst>
          </p:cNvPr>
          <p:cNvSpPr>
            <a:spLocks noGrp="1"/>
          </p:cNvSpPr>
          <p:nvPr>
            <p:ph type="title"/>
          </p:nvPr>
        </p:nvSpPr>
        <p:spPr>
          <a:xfrm>
            <a:off x="-1311630" y="0"/>
            <a:ext cx="10018713" cy="897467"/>
          </a:xfrm>
        </p:spPr>
        <p:txBody>
          <a:bodyPr/>
          <a:lstStyle/>
          <a:p>
            <a:r>
              <a:rPr lang="en-US" b="1" dirty="0">
                <a:solidFill>
                  <a:schemeClr val="tx2"/>
                </a:solidFill>
              </a:rPr>
              <a:t>Key Takeaways</a:t>
            </a:r>
            <a:endParaRPr lang="en-IN" b="1" dirty="0">
              <a:solidFill>
                <a:schemeClr val="tx2"/>
              </a:solidFill>
            </a:endParaRPr>
          </a:p>
        </p:txBody>
      </p:sp>
      <p:sp>
        <p:nvSpPr>
          <p:cNvPr id="3" name="TextBox 2">
            <a:extLst>
              <a:ext uri="{FF2B5EF4-FFF2-40B4-BE49-F238E27FC236}">
                <a16:creationId xmlns:a16="http://schemas.microsoft.com/office/drawing/2014/main" id="{F75210D0-BC0A-4D48-A4D0-F9604037F08E}"/>
              </a:ext>
            </a:extLst>
          </p:cNvPr>
          <p:cNvSpPr txBox="1"/>
          <p:nvPr/>
        </p:nvSpPr>
        <p:spPr>
          <a:xfrm>
            <a:off x="1991206" y="833192"/>
            <a:ext cx="6715877" cy="3373359"/>
          </a:xfrm>
          <a:prstGeom prst="rect">
            <a:avLst/>
          </a:prstGeom>
          <a:noFill/>
        </p:spPr>
        <p:txBody>
          <a:bodyPr wrap="none" rtlCol="0">
            <a:spAutoFit/>
          </a:bodyPr>
          <a:lstStyle/>
          <a:p>
            <a:pPr marL="342900" indent="-342900">
              <a:lnSpc>
                <a:spcPct val="150000"/>
              </a:lnSpc>
              <a:buClr>
                <a:srgbClr val="00B050"/>
              </a:buClr>
              <a:buFont typeface="Wingdings" panose="05000000000000000000" pitchFamily="2" charset="2"/>
              <a:buChar char="Ø"/>
            </a:pPr>
            <a:r>
              <a:rPr lang="en-US" dirty="0"/>
              <a:t>Loan grades are strong indicators of repayment risk. </a:t>
            </a:r>
          </a:p>
          <a:p>
            <a:pPr marL="342900" indent="-342900">
              <a:lnSpc>
                <a:spcPct val="150000"/>
              </a:lnSpc>
              <a:buClr>
                <a:srgbClr val="00B050"/>
              </a:buClr>
              <a:buFont typeface="Wingdings" panose="05000000000000000000" pitchFamily="2" charset="2"/>
              <a:buChar char="Ø"/>
            </a:pPr>
            <a:r>
              <a:rPr lang="en-US" dirty="0"/>
              <a:t>Verified customers generally show better payment performance. </a:t>
            </a:r>
          </a:p>
          <a:p>
            <a:pPr marL="342900" indent="-342900">
              <a:lnSpc>
                <a:spcPct val="150000"/>
              </a:lnSpc>
              <a:buClr>
                <a:srgbClr val="00B050"/>
              </a:buClr>
              <a:buFont typeface="Wingdings" panose="05000000000000000000" pitchFamily="2" charset="2"/>
              <a:buChar char="Ø"/>
            </a:pPr>
            <a:r>
              <a:rPr lang="en-US" dirty="0"/>
              <a:t>Loan status varies across states and months. </a:t>
            </a:r>
          </a:p>
          <a:p>
            <a:pPr marL="342900" indent="-342900">
              <a:lnSpc>
                <a:spcPct val="150000"/>
              </a:lnSpc>
              <a:buClr>
                <a:srgbClr val="00B050"/>
              </a:buClr>
              <a:buFont typeface="Wingdings" panose="05000000000000000000" pitchFamily="2" charset="2"/>
              <a:buChar char="Ø"/>
            </a:pPr>
            <a:r>
              <a:rPr lang="en-US" dirty="0"/>
              <a:t>Home ownership influences repayment behavior. </a:t>
            </a:r>
          </a:p>
          <a:p>
            <a:pPr marL="342900" indent="-342900">
              <a:lnSpc>
                <a:spcPct val="150000"/>
              </a:lnSpc>
              <a:buClr>
                <a:srgbClr val="00B050"/>
              </a:buClr>
              <a:buFont typeface="Wingdings" panose="05000000000000000000" pitchFamily="2" charset="2"/>
              <a:buChar char="Ø"/>
            </a:pPr>
            <a:r>
              <a:rPr lang="en-US" dirty="0"/>
              <a:t>Revolving balance helps assess customer credit risk. </a:t>
            </a:r>
          </a:p>
          <a:p>
            <a:pPr marL="342900" indent="-342900">
              <a:lnSpc>
                <a:spcPct val="150000"/>
              </a:lnSpc>
              <a:buClr>
                <a:srgbClr val="00B050"/>
              </a:buClr>
              <a:buFont typeface="Wingdings" panose="05000000000000000000" pitchFamily="2" charset="2"/>
              <a:buChar char="Ø"/>
            </a:pPr>
            <a:r>
              <a:rPr lang="en-US" dirty="0"/>
              <a:t>Interactive dashboards support data-driven banking decisions. </a:t>
            </a:r>
          </a:p>
          <a:p>
            <a:pPr marL="342900" indent="-342900">
              <a:lnSpc>
                <a:spcPct val="150000"/>
              </a:lnSpc>
              <a:buClr>
                <a:srgbClr val="00B050"/>
              </a:buClr>
              <a:buFont typeface="Wingdings" panose="05000000000000000000" pitchFamily="2" charset="2"/>
              <a:buChar char="Ø"/>
            </a:pPr>
            <a:r>
              <a:rPr lang="en-US" dirty="0"/>
              <a:t>Analytics can improve lending efficiency and risk management.</a:t>
            </a:r>
          </a:p>
          <a:p>
            <a:pPr marL="342900" indent="-342900">
              <a:lnSpc>
                <a:spcPct val="150000"/>
              </a:lnSpc>
              <a:buClr>
                <a:srgbClr val="00B050"/>
              </a:buClr>
              <a:buFont typeface="Wingdings" panose="05000000000000000000" pitchFamily="2" charset="2"/>
              <a:buChar char="Ø"/>
            </a:pPr>
            <a:endParaRPr lang="en-IN" dirty="0"/>
          </a:p>
        </p:txBody>
      </p:sp>
      <p:sp>
        <p:nvSpPr>
          <p:cNvPr id="4" name="TextBox 3">
            <a:extLst>
              <a:ext uri="{FF2B5EF4-FFF2-40B4-BE49-F238E27FC236}">
                <a16:creationId xmlns:a16="http://schemas.microsoft.com/office/drawing/2014/main" id="{4A61AC60-1510-487B-AF28-80B6AFB0D4B0}"/>
              </a:ext>
            </a:extLst>
          </p:cNvPr>
          <p:cNvSpPr txBox="1"/>
          <p:nvPr/>
        </p:nvSpPr>
        <p:spPr>
          <a:xfrm>
            <a:off x="828039" y="4206551"/>
            <a:ext cx="11117402" cy="1295868"/>
          </a:xfrm>
          <a:prstGeom prst="rect">
            <a:avLst/>
          </a:prstGeom>
          <a:noFill/>
        </p:spPr>
        <p:txBody>
          <a:bodyPr wrap="none" rtlCol="0">
            <a:spAutoFit/>
          </a:bodyPr>
          <a:lstStyle/>
          <a:p>
            <a:pPr algn="ctr">
              <a:lnSpc>
                <a:spcPct val="150000"/>
              </a:lnSpc>
            </a:pPr>
            <a:r>
              <a:rPr lang="en-US" b="1" dirty="0">
                <a:solidFill>
                  <a:schemeClr val="accent4"/>
                </a:solidFill>
              </a:rPr>
              <a:t>"This project demonstrates how data analytics can help financial institutions monitor loan performance,</a:t>
            </a:r>
          </a:p>
          <a:p>
            <a:pPr algn="ctr">
              <a:lnSpc>
                <a:spcPct val="150000"/>
              </a:lnSpc>
            </a:pPr>
            <a:r>
              <a:rPr lang="en-US" b="1" dirty="0">
                <a:solidFill>
                  <a:schemeClr val="accent4"/>
                </a:solidFill>
              </a:rPr>
              <a:t> understand customer behavior, manage credit risk, and make informed business decisions through interactive</a:t>
            </a:r>
          </a:p>
          <a:p>
            <a:pPr algn="ctr">
              <a:lnSpc>
                <a:spcPct val="150000"/>
              </a:lnSpc>
            </a:pPr>
            <a:r>
              <a:rPr lang="en-US" b="1" dirty="0">
                <a:solidFill>
                  <a:schemeClr val="accent4"/>
                </a:solidFill>
              </a:rPr>
              <a:t> reporting and visualization."</a:t>
            </a:r>
            <a:endParaRPr lang="en-IN" b="1" dirty="0">
              <a:solidFill>
                <a:schemeClr val="accent4"/>
              </a:solidFill>
            </a:endParaRPr>
          </a:p>
        </p:txBody>
      </p:sp>
    </p:spTree>
    <p:extLst>
      <p:ext uri="{BB962C8B-B14F-4D97-AF65-F5344CB8AC3E}">
        <p14:creationId xmlns:p14="http://schemas.microsoft.com/office/powerpoint/2010/main" val="4061976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A34A-512E-48B5-8E10-77089BC95326}"/>
              </a:ext>
            </a:extLst>
          </p:cNvPr>
          <p:cNvSpPr>
            <a:spLocks noGrp="1"/>
          </p:cNvSpPr>
          <p:nvPr>
            <p:ph type="title"/>
          </p:nvPr>
        </p:nvSpPr>
        <p:spPr>
          <a:xfrm>
            <a:off x="1539729" y="2417618"/>
            <a:ext cx="10018713" cy="1752599"/>
          </a:xfrm>
        </p:spPr>
        <p:txBody>
          <a:bodyPr>
            <a:normAutofit/>
          </a:bodyPr>
          <a:lstStyle/>
          <a:p>
            <a:r>
              <a:rPr lang="en-US" sz="5400" b="1" dirty="0">
                <a:solidFill>
                  <a:srgbClr val="0070C0"/>
                </a:solidFill>
                <a:latin typeface="Arial Black" panose="020B0A04020102020204" pitchFamily="34" charset="0"/>
              </a:rPr>
              <a:t>THANK YOU</a:t>
            </a:r>
            <a:endParaRPr lang="en-IN" sz="5400" b="1" dirty="0">
              <a:solidFill>
                <a:srgbClr val="0070C0"/>
              </a:solidFill>
              <a:latin typeface="Arial Black" panose="020B0A04020102020204" pitchFamily="34" charset="0"/>
            </a:endParaRPr>
          </a:p>
        </p:txBody>
      </p:sp>
    </p:spTree>
    <p:extLst>
      <p:ext uri="{BB962C8B-B14F-4D97-AF65-F5344CB8AC3E}">
        <p14:creationId xmlns:p14="http://schemas.microsoft.com/office/powerpoint/2010/main" val="14724526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102</TotalTime>
  <Words>708</Words>
  <Application>Microsoft Office PowerPoint</Application>
  <PresentationFormat>Widescreen</PresentationFormat>
  <Paragraphs>96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Calibri</vt:lpstr>
      <vt:lpstr>Corbel</vt:lpstr>
      <vt:lpstr>Wingdings</vt:lpstr>
      <vt:lpstr>Parallax</vt:lpstr>
      <vt:lpstr>Bank Loan Portfolio Analysis Project</vt:lpstr>
      <vt:lpstr>PowerPoint Presentation</vt:lpstr>
      <vt:lpstr>Table of Contents</vt:lpstr>
      <vt:lpstr>Introduction</vt:lpstr>
      <vt:lpstr>Objectives </vt:lpstr>
      <vt:lpstr>KPI’s</vt:lpstr>
      <vt:lpstr>PowerPoint Presentation</vt:lpstr>
      <vt:lpstr>Excel Dashboard</vt:lpstr>
      <vt:lpstr>Power BI Dashboard</vt:lpstr>
      <vt:lpstr>Tableau Dashboard </vt:lpstr>
      <vt:lpstr>MYSQL  Queries</vt:lpstr>
      <vt:lpstr>PowerPoint Presentation</vt:lpstr>
      <vt:lpstr>Key Takeaways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Pankaj patil</dc:creator>
  <cp:lastModifiedBy>Mohanakrishnan Devaraj</cp:lastModifiedBy>
  <cp:revision>7</cp:revision>
  <dcterms:created xsi:type="dcterms:W3CDTF">2026-05-29T17:14:03Z</dcterms:created>
  <dcterms:modified xsi:type="dcterms:W3CDTF">2026-05-30T07:09:29Z</dcterms:modified>
</cp:coreProperties>
</file>